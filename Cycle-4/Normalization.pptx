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304" r:id="rId3"/>
    <p:sldId id="307" r:id="rId4"/>
    <p:sldId id="305" r:id="rId5"/>
    <p:sldId id="306" r:id="rId6"/>
    <p:sldId id="308"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9" r:id="rId34"/>
    <p:sldId id="310" r:id="rId35"/>
    <p:sldId id="311" r:id="rId36"/>
    <p:sldId id="312" r:id="rId37"/>
    <p:sldId id="313" r:id="rId38"/>
    <p:sldId id="314" r:id="rId39"/>
    <p:sldId id="31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2" d="100"/>
          <a:sy n="92" d="100"/>
        </p:scale>
        <p:origin x="1186"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EC9769-8002-4D32-8F1B-F47044DDB88D}" type="datetimeFigureOut">
              <a:rPr lang="en-US" smtClean="0"/>
              <a:pPr/>
              <a:t>4/6/2026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EDE11F1-B25C-45DF-8286-EAAE44DF811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C9769-8002-4D32-8F1B-F47044DDB88D}" type="datetimeFigureOut">
              <a:rPr lang="en-US" smtClean="0"/>
              <a:pPr/>
              <a:t>4/6/2026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DE11F1-B25C-45DF-8286-EAAE44DF811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oleObject" Target="../embeddings/oleObject14.bin"/></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15.emf"/><Relationship Id="rId7" Type="http://schemas.openxmlformats.org/officeDocument/2006/relationships/image" Target="../media/image17.e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16.emf"/><Relationship Id="rId4" Type="http://schemas.openxmlformats.org/officeDocument/2006/relationships/oleObject" Target="../embeddings/oleObject19.bin"/><Relationship Id="rId9" Type="http://schemas.openxmlformats.org/officeDocument/2006/relationships/image" Target="../media/image18.emf"/></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emf"/><Relationship Id="rId7" Type="http://schemas.openxmlformats.org/officeDocument/2006/relationships/image" Target="../media/image23.e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22.emf"/><Relationship Id="rId4"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05000"/>
            <a:ext cx="8154988" cy="3276600"/>
          </a:xfrm>
          <a:noFill/>
        </p:spPr>
        <p:txBody>
          <a:bodyPr/>
          <a:lstStyle/>
          <a:p>
            <a:pPr algn="ctr">
              <a:buFont typeface="Monotype Sorts" pitchFamily="2" charset="2"/>
              <a:buNone/>
            </a:pPr>
            <a:endParaRPr lang="en-US" sz="4000" b="1" dirty="0">
              <a:solidFill>
                <a:schemeClr val="accent2"/>
              </a:solidFill>
            </a:endParaRPr>
          </a:p>
          <a:p>
            <a:pPr algn="ctr">
              <a:buFont typeface="Monotype Sorts" pitchFamily="2" charset="2"/>
              <a:buNone/>
            </a:pPr>
            <a:r>
              <a:rPr lang="en-US" sz="4000" b="1" dirty="0">
                <a:solidFill>
                  <a:schemeClr val="accent2"/>
                </a:solidFill>
              </a:rPr>
              <a:t> </a:t>
            </a:r>
            <a:r>
              <a:rPr lang="en-US" sz="4800" b="1" dirty="0">
                <a:solidFill>
                  <a:schemeClr val="accent2"/>
                </a:solidFill>
              </a:rPr>
              <a:t>Normalization</a:t>
            </a:r>
          </a:p>
          <a:p>
            <a:pPr algn="ctr">
              <a:buNone/>
            </a:pPr>
            <a:r>
              <a:rPr lang="en-US" b="1" dirty="0"/>
              <a:t>1NF, 2NF, 3NF &amp; BCNF</a:t>
            </a:r>
          </a:p>
          <a:p>
            <a:pPr algn="ctr">
              <a:buFont typeface="Monotype Sorts" pitchFamily="2" charset="2"/>
              <a:buNone/>
            </a:pPr>
            <a:endParaRPr lang="en-US" sz="4000" b="1" dirty="0">
              <a:solidFill>
                <a:schemeClr val="accent2"/>
              </a:solidFill>
            </a:endParaRPr>
          </a:p>
          <a:p>
            <a:pPr algn="ctr">
              <a:buFont typeface="Monotype Sorts" pitchFamily="2" charset="2"/>
              <a:buNone/>
            </a:pPr>
            <a:endParaRPr lang="en-US" sz="4000" b="1" dirty="0">
              <a:solidFill>
                <a:schemeClr val="accent2"/>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What is normalization</a:t>
            </a:r>
          </a:p>
        </p:txBody>
      </p:sp>
      <p:sp>
        <p:nvSpPr>
          <p:cNvPr id="3" name="Content Placeholder 2"/>
          <p:cNvSpPr>
            <a:spLocks noGrp="1"/>
          </p:cNvSpPr>
          <p:nvPr>
            <p:ph idx="1"/>
          </p:nvPr>
        </p:nvSpPr>
        <p:spPr>
          <a:xfrm>
            <a:off x="152400" y="1143000"/>
            <a:ext cx="8991600" cy="5486400"/>
          </a:xfrm>
        </p:spPr>
        <p:txBody>
          <a:bodyPr>
            <a:normAutofit/>
          </a:bodyPr>
          <a:lstStyle/>
          <a:p>
            <a:r>
              <a:rPr lang="en-US" dirty="0"/>
              <a:t>Database Normalization is a technique of organizing the data in the database. It is a multi-step process that puts data into tabular form by removing duplicated data from the relation tables.</a:t>
            </a:r>
          </a:p>
          <a:p>
            <a:endParaRPr lang="en-US" dirty="0"/>
          </a:p>
          <a:p>
            <a:r>
              <a:rPr lang="en-US" dirty="0"/>
              <a:t>The process is organized into a series of </a:t>
            </a:r>
            <a:r>
              <a:rPr lang="en-US" b="1" dirty="0"/>
              <a:t>normal forms</a:t>
            </a:r>
            <a:r>
              <a:rPr lang="en-US" dirty="0"/>
              <a:t> 1NF, 2NF, 3NF, and BCNF, each designed to resolve specific types of data anomalies and structural problems.</a:t>
            </a:r>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26474-D75C-1CA3-E8B5-C63241D4B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943FA-07DC-2A72-0DD6-98DACDEB8D67}"/>
              </a:ext>
            </a:extLst>
          </p:cNvPr>
          <p:cNvSpPr>
            <a:spLocks noGrp="1"/>
          </p:cNvSpPr>
          <p:nvPr>
            <p:ph type="title"/>
          </p:nvPr>
        </p:nvSpPr>
        <p:spPr>
          <a:xfrm>
            <a:off x="457200" y="76200"/>
            <a:ext cx="8229600" cy="715962"/>
          </a:xfrm>
        </p:spPr>
        <p:txBody>
          <a:bodyPr>
            <a:normAutofit/>
          </a:bodyPr>
          <a:lstStyle/>
          <a:p>
            <a:r>
              <a:rPr lang="en-US" sz="3600" dirty="0"/>
              <a:t>Objectives of DB Normalization</a:t>
            </a:r>
          </a:p>
        </p:txBody>
      </p:sp>
      <p:sp>
        <p:nvSpPr>
          <p:cNvPr id="3" name="Content Placeholder 2">
            <a:extLst>
              <a:ext uri="{FF2B5EF4-FFF2-40B4-BE49-F238E27FC236}">
                <a16:creationId xmlns:a16="http://schemas.microsoft.com/office/drawing/2014/main" id="{F051E248-A518-346F-F448-AE345181FAB0}"/>
              </a:ext>
            </a:extLst>
          </p:cNvPr>
          <p:cNvSpPr>
            <a:spLocks noGrp="1"/>
          </p:cNvSpPr>
          <p:nvPr>
            <p:ph idx="1"/>
          </p:nvPr>
        </p:nvSpPr>
        <p:spPr>
          <a:xfrm>
            <a:off x="152400" y="914400"/>
            <a:ext cx="8991600" cy="5943600"/>
          </a:xfrm>
        </p:spPr>
        <p:txBody>
          <a:bodyPr>
            <a:normAutofit fontScale="70000" lnSpcReduction="20000"/>
          </a:bodyPr>
          <a:lstStyle/>
          <a:p>
            <a:r>
              <a:rPr lang="en-US" b="1" dirty="0"/>
              <a:t>Eliminate Data Redundancy</a:t>
            </a:r>
            <a:r>
              <a:rPr lang="en-US" dirty="0"/>
              <a:t>: By breaking data into logical tables and removing duplicate information, normalization helps us make sure that each piece of data is stored only once. This reduces storage requirements and prevents inconsistencies.</a:t>
            </a:r>
          </a:p>
          <a:p>
            <a:endParaRPr lang="en-US" dirty="0"/>
          </a:p>
          <a:p>
            <a:r>
              <a:rPr lang="en-US" b="1" dirty="0"/>
              <a:t>Confirming Data Integrity</a:t>
            </a:r>
            <a:r>
              <a:rPr lang="en-US" dirty="0"/>
              <a:t>: Normalization enforces data consistency by establishing clear relationships and dependencies between tables. This maintains accurate and reliable data throughout the database.</a:t>
            </a:r>
          </a:p>
          <a:p>
            <a:pPr marL="0" indent="0">
              <a:buNone/>
            </a:pPr>
            <a:endParaRPr lang="en-US" dirty="0"/>
          </a:p>
          <a:p>
            <a:r>
              <a:rPr lang="en-US" b="1" dirty="0"/>
              <a:t>Prevent Anomalies</a:t>
            </a:r>
            <a:r>
              <a:rPr lang="en-US" dirty="0"/>
              <a:t>: Proper normalization prevents common data anomalies:</a:t>
            </a:r>
          </a:p>
          <a:p>
            <a:pPr lvl="1"/>
            <a:r>
              <a:rPr lang="en-US" b="1" dirty="0"/>
              <a:t>Insertion Anomaly</a:t>
            </a:r>
            <a:r>
              <a:rPr lang="en-US" dirty="0"/>
              <a:t>: Difficulty adding new data due to missing other data.</a:t>
            </a:r>
          </a:p>
          <a:p>
            <a:pPr lvl="1"/>
            <a:r>
              <a:rPr lang="en-US" b="1" dirty="0"/>
              <a:t>Update Anomaly</a:t>
            </a:r>
            <a:r>
              <a:rPr lang="en-US" dirty="0"/>
              <a:t>: Inconsistencies that arise when updating data in multiple places.</a:t>
            </a:r>
          </a:p>
          <a:p>
            <a:pPr lvl="1"/>
            <a:r>
              <a:rPr lang="en-US" b="1" dirty="0"/>
              <a:t>Deletion Anomaly</a:t>
            </a:r>
            <a:r>
              <a:rPr lang="en-US" dirty="0"/>
              <a:t>: Unintended loss of data due to deletion of other data.</a:t>
            </a:r>
          </a:p>
          <a:p>
            <a:pPr marL="457200" lvl="1" indent="0">
              <a:buNone/>
            </a:pPr>
            <a:endParaRPr lang="en-US" dirty="0"/>
          </a:p>
          <a:p>
            <a:r>
              <a:rPr lang="en-US" b="1" dirty="0"/>
              <a:t>Optimize Query Performance</a:t>
            </a:r>
            <a:r>
              <a:rPr lang="en-US" dirty="0"/>
              <a:t>: Well-structured tables can improve the efficiency of queries, especially for updates and maintenance, by reducing the amount of data processed.</a:t>
            </a:r>
          </a:p>
        </p:txBody>
      </p:sp>
    </p:spTree>
    <p:extLst>
      <p:ext uri="{BB962C8B-B14F-4D97-AF65-F5344CB8AC3E}">
        <p14:creationId xmlns:p14="http://schemas.microsoft.com/office/powerpoint/2010/main" val="460193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Problems without normalization</a:t>
            </a:r>
          </a:p>
        </p:txBody>
      </p:sp>
      <p:sp>
        <p:nvSpPr>
          <p:cNvPr id="3" name="Content Placeholder 2"/>
          <p:cNvSpPr>
            <a:spLocks noGrp="1"/>
          </p:cNvSpPr>
          <p:nvPr>
            <p:ph idx="1"/>
          </p:nvPr>
        </p:nvSpPr>
        <p:spPr>
          <a:xfrm>
            <a:off x="228600" y="1295400"/>
            <a:ext cx="8915400" cy="5410200"/>
          </a:xfrm>
        </p:spPr>
        <p:txBody>
          <a:bodyPr>
            <a:normAutofit/>
          </a:bodyPr>
          <a:lstStyle/>
          <a:p>
            <a:pPr>
              <a:buNone/>
            </a:pPr>
            <a:r>
              <a:rPr lang="en-US" sz="2800" dirty="0"/>
              <a:t>	Without Normalization, it becomes difficult to handle and update the database, without facing data loss. Insertion, </a:t>
            </a:r>
            <a:r>
              <a:rPr lang="en-US" sz="2800" dirty="0" err="1"/>
              <a:t>Updation</a:t>
            </a:r>
            <a:r>
              <a:rPr lang="en-US" sz="2800" dirty="0"/>
              <a:t> and Deletion </a:t>
            </a:r>
            <a:r>
              <a:rPr lang="en-US" sz="2800" dirty="0" err="1"/>
              <a:t>anamalies</a:t>
            </a:r>
            <a:r>
              <a:rPr lang="en-US" sz="2800" dirty="0"/>
              <a:t> are very frequent if Database is not Normalized. Lets look at Student table.</a:t>
            </a:r>
          </a:p>
          <a:p>
            <a:pPr>
              <a:buNone/>
            </a:pPr>
            <a:endParaRPr lang="en-US" sz="2800" dirty="0"/>
          </a:p>
          <a:p>
            <a:pPr>
              <a:buNone/>
            </a:pPr>
            <a:r>
              <a:rPr lang="en-US" sz="2800" dirty="0"/>
              <a:t>	</a:t>
            </a:r>
            <a:r>
              <a:rPr lang="en-US" sz="2800" dirty="0" err="1"/>
              <a:t>S_id</a:t>
            </a:r>
            <a:r>
              <a:rPr lang="en-US" sz="2800" dirty="0"/>
              <a:t>	</a:t>
            </a:r>
            <a:r>
              <a:rPr lang="en-US" sz="2800" dirty="0" err="1"/>
              <a:t>S_Name</a:t>
            </a:r>
            <a:r>
              <a:rPr lang="en-US" sz="2800" dirty="0"/>
              <a:t>	</a:t>
            </a:r>
            <a:r>
              <a:rPr lang="en-US" sz="2800" dirty="0" err="1"/>
              <a:t>S_Address</a:t>
            </a:r>
            <a:r>
              <a:rPr lang="en-US" sz="2800" dirty="0"/>
              <a:t>	  	Subject</a:t>
            </a:r>
          </a:p>
          <a:p>
            <a:pPr>
              <a:buNone/>
            </a:pPr>
            <a:r>
              <a:rPr lang="en-US" sz="2800" dirty="0"/>
              <a:t>	101	  	Ravi	  	Hyderabad	  	Economics</a:t>
            </a:r>
          </a:p>
          <a:p>
            <a:pPr>
              <a:buNone/>
            </a:pPr>
            <a:r>
              <a:rPr lang="en-US" sz="2800" dirty="0"/>
              <a:t>	102	  	</a:t>
            </a:r>
            <a:r>
              <a:rPr lang="en-US" sz="2800" dirty="0" err="1"/>
              <a:t>Subbu</a:t>
            </a:r>
            <a:r>
              <a:rPr lang="en-US" sz="2800" dirty="0"/>
              <a:t>	  	Bangalore	  	</a:t>
            </a:r>
            <a:r>
              <a:rPr lang="en-US" sz="2800" dirty="0" err="1"/>
              <a:t>Maths</a:t>
            </a:r>
            <a:endParaRPr lang="en-US" sz="2800" dirty="0"/>
          </a:p>
          <a:p>
            <a:pPr>
              <a:buNone/>
            </a:pPr>
            <a:r>
              <a:rPr lang="en-US" sz="2800" dirty="0"/>
              <a:t>	103	  	</a:t>
            </a:r>
            <a:r>
              <a:rPr lang="en-US" sz="2800" dirty="0" err="1"/>
              <a:t>Archana</a:t>
            </a:r>
            <a:r>
              <a:rPr lang="en-US" sz="2800" dirty="0"/>
              <a:t>	Hyderabad 		</a:t>
            </a:r>
            <a:r>
              <a:rPr lang="en-US" sz="2800" dirty="0" err="1"/>
              <a:t>Maths</a:t>
            </a:r>
            <a:endParaRPr lang="en-US" sz="2800" dirty="0"/>
          </a:p>
          <a:p>
            <a:pPr>
              <a:buNone/>
            </a:pPr>
            <a:r>
              <a:rPr lang="en-US" sz="2800" dirty="0"/>
              <a:t>	101	  	 Ravi 	  	Hyderabad	  	Physics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Problems without normalization</a:t>
            </a:r>
          </a:p>
        </p:txBody>
      </p:sp>
      <p:sp>
        <p:nvSpPr>
          <p:cNvPr id="3" name="Content Placeholder 2"/>
          <p:cNvSpPr>
            <a:spLocks noGrp="1"/>
          </p:cNvSpPr>
          <p:nvPr>
            <p:ph idx="1"/>
          </p:nvPr>
        </p:nvSpPr>
        <p:spPr>
          <a:xfrm>
            <a:off x="228600" y="1295400"/>
            <a:ext cx="8915400" cy="5410200"/>
          </a:xfrm>
        </p:spPr>
        <p:txBody>
          <a:bodyPr>
            <a:normAutofit fontScale="92500" lnSpcReduction="10000"/>
          </a:bodyPr>
          <a:lstStyle/>
          <a:p>
            <a:pPr>
              <a:buNone/>
            </a:pPr>
            <a:r>
              <a:rPr lang="en-US" sz="2800" dirty="0" err="1"/>
              <a:t>Updation</a:t>
            </a:r>
            <a:r>
              <a:rPr lang="en-US" sz="2800" dirty="0"/>
              <a:t> Anomaly: To update address of a student who occurs twice or more than twice in a table, we will have to update </a:t>
            </a:r>
            <a:r>
              <a:rPr lang="en-US" sz="2800" dirty="0" err="1"/>
              <a:t>S_Address</a:t>
            </a:r>
            <a:r>
              <a:rPr lang="en-US" sz="2800" dirty="0"/>
              <a:t> column in all the rows, else data will become inconsistent.</a:t>
            </a:r>
          </a:p>
          <a:p>
            <a:pPr>
              <a:buNone/>
            </a:pPr>
            <a:endParaRPr lang="en-US" sz="2800" dirty="0"/>
          </a:p>
          <a:p>
            <a:pPr>
              <a:buNone/>
            </a:pPr>
            <a:r>
              <a:rPr lang="en-US" sz="2800" dirty="0"/>
              <a:t>Insertion Anomaly: Suppose for a new admission, we have a Student id (</a:t>
            </a:r>
            <a:r>
              <a:rPr lang="en-US" sz="2800" dirty="0" err="1"/>
              <a:t>S_id</a:t>
            </a:r>
            <a:r>
              <a:rPr lang="en-US" sz="2800" dirty="0"/>
              <a:t>), name and address of a student but if student has not opted for any subjects yet then we have to insert NULL there, leading to Insertion Anomaly.</a:t>
            </a:r>
          </a:p>
          <a:p>
            <a:pPr>
              <a:buNone/>
            </a:pPr>
            <a:endParaRPr lang="en-US" sz="2800" dirty="0"/>
          </a:p>
          <a:p>
            <a:pPr>
              <a:buNone/>
            </a:pPr>
            <a:r>
              <a:rPr lang="en-US" sz="2800" dirty="0"/>
              <a:t>Deletion Anomaly: If (</a:t>
            </a:r>
            <a:r>
              <a:rPr lang="en-US" sz="2800" dirty="0" err="1"/>
              <a:t>S_id</a:t>
            </a:r>
            <a:r>
              <a:rPr lang="en-US" sz="2800" dirty="0"/>
              <a:t>) 102 has only one subject and temporarily he drops it, when we delete that row, entire student record will be deleted along with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EE8D6-1BFB-3912-06D5-6AC6B38EE907}"/>
              </a:ext>
            </a:extLst>
          </p:cNvPr>
          <p:cNvSpPr>
            <a:spLocks noGrp="1"/>
          </p:cNvSpPr>
          <p:nvPr>
            <p:ph type="title"/>
          </p:nvPr>
        </p:nvSpPr>
        <p:spPr>
          <a:xfrm>
            <a:off x="457200" y="274638"/>
            <a:ext cx="8229600" cy="334962"/>
          </a:xfrm>
        </p:spPr>
        <p:txBody>
          <a:bodyPr>
            <a:noAutofit/>
          </a:bodyPr>
          <a:lstStyle/>
          <a:p>
            <a:r>
              <a:rPr lang="en-IN" sz="3200" dirty="0"/>
              <a:t>Summary of Normal forms</a:t>
            </a:r>
          </a:p>
        </p:txBody>
      </p:sp>
      <p:graphicFrame>
        <p:nvGraphicFramePr>
          <p:cNvPr id="4" name="Content Placeholder 3">
            <a:extLst>
              <a:ext uri="{FF2B5EF4-FFF2-40B4-BE49-F238E27FC236}">
                <a16:creationId xmlns:a16="http://schemas.microsoft.com/office/drawing/2014/main" id="{95C720D0-8F0E-22F0-6F14-56B4148C43A3}"/>
              </a:ext>
            </a:extLst>
          </p:cNvPr>
          <p:cNvGraphicFramePr>
            <a:graphicFrameLocks noGrp="1"/>
          </p:cNvGraphicFramePr>
          <p:nvPr>
            <p:ph idx="1"/>
            <p:extLst>
              <p:ext uri="{D42A27DB-BD31-4B8C-83A1-F6EECF244321}">
                <p14:modId xmlns:p14="http://schemas.microsoft.com/office/powerpoint/2010/main" val="4241111573"/>
              </p:ext>
            </p:extLst>
          </p:nvPr>
        </p:nvGraphicFramePr>
        <p:xfrm>
          <a:off x="228600" y="990600"/>
          <a:ext cx="8686800" cy="5715002"/>
        </p:xfrm>
        <a:graphic>
          <a:graphicData uri="http://schemas.openxmlformats.org/drawingml/2006/table">
            <a:tbl>
              <a:tblPr/>
              <a:tblGrid>
                <a:gridCol w="2171700">
                  <a:extLst>
                    <a:ext uri="{9D8B030D-6E8A-4147-A177-3AD203B41FA5}">
                      <a16:colId xmlns:a16="http://schemas.microsoft.com/office/drawing/2014/main" val="200778777"/>
                    </a:ext>
                  </a:extLst>
                </a:gridCol>
                <a:gridCol w="2171700">
                  <a:extLst>
                    <a:ext uri="{9D8B030D-6E8A-4147-A177-3AD203B41FA5}">
                      <a16:colId xmlns:a16="http://schemas.microsoft.com/office/drawing/2014/main" val="843183372"/>
                    </a:ext>
                  </a:extLst>
                </a:gridCol>
                <a:gridCol w="2171700">
                  <a:extLst>
                    <a:ext uri="{9D8B030D-6E8A-4147-A177-3AD203B41FA5}">
                      <a16:colId xmlns:a16="http://schemas.microsoft.com/office/drawing/2014/main" val="3849950247"/>
                    </a:ext>
                  </a:extLst>
                </a:gridCol>
                <a:gridCol w="2171700">
                  <a:extLst>
                    <a:ext uri="{9D8B030D-6E8A-4147-A177-3AD203B41FA5}">
                      <a16:colId xmlns:a16="http://schemas.microsoft.com/office/drawing/2014/main" val="2019289246"/>
                    </a:ext>
                  </a:extLst>
                </a:gridCol>
              </a:tblGrid>
              <a:tr h="975732">
                <a:tc>
                  <a:txBody>
                    <a:bodyPr/>
                    <a:lstStyle/>
                    <a:p>
                      <a:pPr>
                        <a:buNone/>
                      </a:pPr>
                      <a:r>
                        <a:rPr lang="en-IN" b="1">
                          <a:solidFill>
                            <a:srgbClr val="000C2A"/>
                          </a:solidFill>
                          <a:effectLst/>
                        </a:rPr>
                        <a:t>Normal Form</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a:solidFill>
                            <a:srgbClr val="000C2A"/>
                          </a:solidFill>
                          <a:effectLst/>
                        </a:rPr>
                        <a:t>Rule Enforced</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dirty="0">
                          <a:solidFill>
                            <a:srgbClr val="000C2A"/>
                          </a:solidFill>
                          <a:effectLst/>
                        </a:rPr>
                        <a:t>Problem Solved</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a:solidFill>
                            <a:srgbClr val="000C2A"/>
                          </a:solidFill>
                          <a:effectLst/>
                        </a:rPr>
                        <a:t>Dependency Focus</a:t>
                      </a:r>
                    </a:p>
                  </a:txBody>
                  <a:tcPr anchor="ctr">
                    <a:lnL>
                      <a:noFill/>
                    </a:lnL>
                    <a:lnR>
                      <a:noFill/>
                    </a:lnR>
                    <a:lnT>
                      <a:noFill/>
                    </a:lnT>
                    <a:lnB w="7620" cap="flat" cmpd="sng" algn="ctr">
                      <a:solidFill>
                        <a:srgbClr val="D6DCEA"/>
                      </a:solidFill>
                      <a:prstDash val="dash"/>
                      <a:round/>
                      <a:headEnd type="none" w="med" len="med"/>
                      <a:tailEnd type="none" w="med" len="med"/>
                    </a:lnB>
                    <a:noFill/>
                  </a:tcPr>
                </a:tc>
                <a:extLst>
                  <a:ext uri="{0D108BD9-81ED-4DB2-BD59-A6C34878D82A}">
                    <a16:rowId xmlns:a16="http://schemas.microsoft.com/office/drawing/2014/main" val="2225924893"/>
                  </a:ext>
                </a:extLst>
              </a:tr>
              <a:tr h="1393903">
                <a:tc>
                  <a:txBody>
                    <a:bodyPr/>
                    <a:lstStyle/>
                    <a:p>
                      <a:pPr>
                        <a:buNone/>
                      </a:pPr>
                      <a:r>
                        <a:rPr lang="en-IN">
                          <a:solidFill>
                            <a:srgbClr val="4D5B7C"/>
                          </a:solidFill>
                          <a:effectLst/>
                        </a:rPr>
                        <a:t>1NF</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Atomicity</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Repeating/multi-valued data</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None</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1542531091"/>
                  </a:ext>
                </a:extLst>
              </a:tr>
              <a:tr h="975732">
                <a:tc>
                  <a:txBody>
                    <a:bodyPr/>
                    <a:lstStyle/>
                    <a:p>
                      <a:pPr>
                        <a:buNone/>
                      </a:pPr>
                      <a:r>
                        <a:rPr lang="en-IN">
                          <a:solidFill>
                            <a:srgbClr val="4D5B7C"/>
                          </a:solidFill>
                          <a:effectLst/>
                        </a:rPr>
                        <a:t>2NF</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Full Dependency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Partial dependency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Composite Primary Key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2613392620"/>
                  </a:ext>
                </a:extLst>
              </a:tr>
              <a:tr h="975732">
                <a:tc>
                  <a:txBody>
                    <a:bodyPr/>
                    <a:lstStyle/>
                    <a:p>
                      <a:pPr>
                        <a:buNone/>
                      </a:pPr>
                      <a:r>
                        <a:rPr lang="en-IN">
                          <a:solidFill>
                            <a:srgbClr val="4D5B7C"/>
                          </a:solidFill>
                          <a:effectLst/>
                        </a:rPr>
                        <a:t>3NF</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a:solidFill>
                            <a:srgbClr val="4D5B7C"/>
                          </a:solidFill>
                          <a:effectLst/>
                        </a:rPr>
                        <a:t>Transitive</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Transitive dependency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Non-key attributes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4214281006"/>
                  </a:ext>
                </a:extLst>
              </a:tr>
              <a:tr h="1393903">
                <a:tc>
                  <a:txBody>
                    <a:bodyPr/>
                    <a:lstStyle/>
                    <a:p>
                      <a:pPr>
                        <a:buNone/>
                      </a:pPr>
                      <a:r>
                        <a:rPr lang="en-IN" dirty="0">
                          <a:solidFill>
                            <a:srgbClr val="4D5B7C"/>
                          </a:solidFill>
                          <a:effectLst/>
                        </a:rPr>
                        <a:t>BCNF</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err="1">
                          <a:solidFill>
                            <a:srgbClr val="4D5B7C"/>
                          </a:solidFill>
                          <a:effectLst/>
                        </a:rPr>
                        <a:t>Superkey</a:t>
                      </a:r>
                      <a:r>
                        <a:rPr lang="en-IN" dirty="0">
                          <a:solidFill>
                            <a:srgbClr val="4D5B7C"/>
                          </a:solidFill>
                          <a:effectLst/>
                        </a:rPr>
                        <a:t> Rule</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Remaining anomalies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a:solidFill>
                            <a:srgbClr val="4D5B7C"/>
                          </a:solidFill>
                          <a:effectLst/>
                        </a:rPr>
                        <a:t>All determinants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1614938851"/>
                  </a:ext>
                </a:extLst>
              </a:tr>
            </a:tbl>
          </a:graphicData>
        </a:graphic>
      </p:graphicFrame>
    </p:spTree>
    <p:extLst>
      <p:ext uri="{BB962C8B-B14F-4D97-AF65-F5344CB8AC3E}">
        <p14:creationId xmlns:p14="http://schemas.microsoft.com/office/powerpoint/2010/main" val="383755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533400" y="228600"/>
            <a:ext cx="7010400" cy="928688"/>
          </a:xfrm>
        </p:spPr>
        <p:txBody>
          <a:bodyPr/>
          <a:lstStyle/>
          <a:p>
            <a:r>
              <a:rPr lang="en-US" sz="4000" dirty="0"/>
              <a:t>Dependencies: Definitions </a:t>
            </a:r>
          </a:p>
        </p:txBody>
      </p:sp>
      <p:sp>
        <p:nvSpPr>
          <p:cNvPr id="2052" name="Rectangle 3"/>
          <p:cNvSpPr>
            <a:spLocks noGrp="1" noChangeArrowheads="1"/>
          </p:cNvSpPr>
          <p:nvPr>
            <p:ph type="body" idx="1"/>
          </p:nvPr>
        </p:nvSpPr>
        <p:spPr>
          <a:xfrm>
            <a:off x="838200" y="1371600"/>
            <a:ext cx="7696200" cy="2362200"/>
          </a:xfrm>
        </p:spPr>
        <p:txBody>
          <a:bodyPr/>
          <a:lstStyle/>
          <a:p>
            <a:pPr>
              <a:lnSpc>
                <a:spcPct val="90000"/>
              </a:lnSpc>
            </a:pPr>
            <a:r>
              <a:rPr lang="en-US" sz="2400" b="1" i="1" dirty="0"/>
              <a:t>Multivalued Attributes</a:t>
            </a:r>
            <a:r>
              <a:rPr lang="en-US" sz="2400" dirty="0"/>
              <a:t> (or </a:t>
            </a:r>
            <a:r>
              <a:rPr lang="en-US" sz="2400" b="1" i="1" dirty="0"/>
              <a:t>repeating groups</a:t>
            </a:r>
            <a:r>
              <a:rPr lang="en-US" sz="2400" dirty="0"/>
              <a:t>): non-key attributes or groups of non-key attributes the values of which are not uniquely identified  by (directly or indirectly) (not functionally dependent on) the value of the Primary Key (or its part).</a:t>
            </a:r>
          </a:p>
        </p:txBody>
      </p:sp>
      <p:grpSp>
        <p:nvGrpSpPr>
          <p:cNvPr id="2" name="Group 4"/>
          <p:cNvGrpSpPr>
            <a:grpSpLocks/>
          </p:cNvGrpSpPr>
          <p:nvPr/>
        </p:nvGrpSpPr>
        <p:grpSpPr bwMode="auto">
          <a:xfrm>
            <a:off x="1371600" y="3586163"/>
            <a:ext cx="6400800" cy="2417762"/>
            <a:chOff x="720" y="2163"/>
            <a:chExt cx="4032" cy="1523"/>
          </a:xfrm>
        </p:grpSpPr>
        <p:graphicFrame>
          <p:nvGraphicFramePr>
            <p:cNvPr id="2050" name="Object 5"/>
            <p:cNvGraphicFramePr>
              <a:graphicFrameLocks noChangeAspect="1"/>
            </p:cNvGraphicFramePr>
            <p:nvPr/>
          </p:nvGraphicFramePr>
          <p:xfrm>
            <a:off x="720" y="2163"/>
            <a:ext cx="4032" cy="1523"/>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163"/>
                          <a:ext cx="4032" cy="1523"/>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1056" y="2448"/>
              <a:ext cx="1008" cy="144"/>
              <a:chOff x="1200" y="2448"/>
              <a:chExt cx="816" cy="144"/>
            </a:xfrm>
          </p:grpSpPr>
          <p:sp>
            <p:nvSpPr>
              <p:cNvPr id="2059"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060"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061"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3072" y="2448"/>
              <a:ext cx="1008" cy="144"/>
              <a:chOff x="1200" y="2448"/>
              <a:chExt cx="816" cy="144"/>
            </a:xfrm>
          </p:grpSpPr>
          <p:sp>
            <p:nvSpPr>
              <p:cNvPr id="2056"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057"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058"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sz="4000" dirty="0"/>
              <a:t>Dependencies: Definitions</a:t>
            </a:r>
          </a:p>
        </p:txBody>
      </p:sp>
      <p:sp>
        <p:nvSpPr>
          <p:cNvPr id="3076" name="Rectangle 3"/>
          <p:cNvSpPr>
            <a:spLocks noGrp="1" noChangeArrowheads="1"/>
          </p:cNvSpPr>
          <p:nvPr>
            <p:ph type="body" idx="1"/>
          </p:nvPr>
        </p:nvSpPr>
        <p:spPr>
          <a:xfrm>
            <a:off x="685800" y="1600200"/>
            <a:ext cx="8154988" cy="1371600"/>
          </a:xfrm>
        </p:spPr>
        <p:txBody>
          <a:bodyPr/>
          <a:lstStyle/>
          <a:p>
            <a:r>
              <a:rPr lang="en-US" sz="2800" b="1" i="1" dirty="0"/>
              <a:t>Partial Dependency</a:t>
            </a:r>
            <a:r>
              <a:rPr lang="en-US" sz="2800" dirty="0"/>
              <a:t> – when a non-key attribute is determined by a part, but not the whole, of a </a:t>
            </a:r>
            <a:r>
              <a:rPr lang="en-US" sz="2800" b="1" dirty="0"/>
              <a:t>COMPOSITE</a:t>
            </a:r>
            <a:r>
              <a:rPr lang="en-US" sz="2800" dirty="0"/>
              <a:t> primary key.</a:t>
            </a:r>
          </a:p>
        </p:txBody>
      </p:sp>
      <p:graphicFrame>
        <p:nvGraphicFramePr>
          <p:cNvPr id="263172" name="Object 4"/>
          <p:cNvGraphicFramePr>
            <a:graphicFrameLocks noChangeAspect="1"/>
          </p:cNvGraphicFramePr>
          <p:nvPr/>
        </p:nvGraphicFramePr>
        <p:xfrm>
          <a:off x="1985963" y="3500438"/>
          <a:ext cx="4162425" cy="2684462"/>
        </p:xfrm>
        <a:graphic>
          <a:graphicData uri="http://schemas.openxmlformats.org/presentationml/2006/ole">
            <mc:AlternateContent xmlns:mc="http://schemas.openxmlformats.org/markup-compatibility/2006">
              <mc:Choice xmlns:v="urn:schemas-microsoft-com:vml" Requires="v">
                <p:oleObj name="Worksheet" r:id="rId2" imgW="1838435" imgH="1171623" progId="Excel.Sheet.8">
                  <p:embed/>
                </p:oleObj>
              </mc:Choice>
              <mc:Fallback>
                <p:oleObj name="Worksheet" r:id="rId2" imgW="1838435" imgH="1171623"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963" y="3500438"/>
                        <a:ext cx="4162425" cy="2684462"/>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5"/>
          <p:cNvGrpSpPr>
            <a:grpSpLocks/>
          </p:cNvGrpSpPr>
          <p:nvPr/>
        </p:nvGrpSpPr>
        <p:grpSpPr bwMode="auto">
          <a:xfrm>
            <a:off x="2357438" y="4033838"/>
            <a:ext cx="1600200" cy="228600"/>
            <a:chOff x="1200" y="2448"/>
            <a:chExt cx="816" cy="144"/>
          </a:xfrm>
        </p:grpSpPr>
        <p:sp>
          <p:nvSpPr>
            <p:cNvPr id="3079"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3080"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3081"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63177" name="AutoShape 9"/>
          <p:cNvSpPr>
            <a:spLocks noChangeArrowheads="1"/>
          </p:cNvSpPr>
          <p:nvPr/>
        </p:nvSpPr>
        <p:spPr bwMode="auto">
          <a:xfrm>
            <a:off x="3886200" y="3124200"/>
            <a:ext cx="2819400" cy="762000"/>
          </a:xfrm>
          <a:prstGeom prst="wedgeEllipseCallout">
            <a:avLst>
              <a:gd name="adj1" fmla="val -47634"/>
              <a:gd name="adj2" fmla="val 69167"/>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Partial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3172"/>
                                        </p:tgtEl>
                                        <p:attrNameLst>
                                          <p:attrName>style.visibility</p:attrName>
                                        </p:attrNameLst>
                                      </p:cBhvr>
                                      <p:to>
                                        <p:strVal val="visible"/>
                                      </p:to>
                                    </p:set>
                                    <p:anim calcmode="lin" valueType="num">
                                      <p:cBhvr additive="base">
                                        <p:cTn id="7" dur="500" fill="hold"/>
                                        <p:tgtEl>
                                          <p:spTgt spid="263172"/>
                                        </p:tgtEl>
                                        <p:attrNameLst>
                                          <p:attrName>ppt_x</p:attrName>
                                        </p:attrNameLst>
                                      </p:cBhvr>
                                      <p:tavLst>
                                        <p:tav tm="0">
                                          <p:val>
                                            <p:strVal val="0-#ppt_w/2"/>
                                          </p:val>
                                        </p:tav>
                                        <p:tav tm="100000">
                                          <p:val>
                                            <p:strVal val="#ppt_x"/>
                                          </p:val>
                                        </p:tav>
                                      </p:tavLst>
                                    </p:anim>
                                    <p:anim calcmode="lin" valueType="num">
                                      <p:cBhvr additive="base">
                                        <p:cTn id="8" dur="500" fill="hold"/>
                                        <p:tgtEl>
                                          <p:spTgt spid="2631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 presetClass="entr" presetSubtype="8" fill="hold" grpId="0" nodeType="afterEffect">
                                  <p:stCondLst>
                                    <p:cond delay="0"/>
                                  </p:stCondLst>
                                  <p:childTnLst>
                                    <p:set>
                                      <p:cBhvr>
                                        <p:cTn id="17" dur="1" fill="hold">
                                          <p:stCondLst>
                                            <p:cond delay="0"/>
                                          </p:stCondLst>
                                        </p:cTn>
                                        <p:tgtEl>
                                          <p:spTgt spid="263177"/>
                                        </p:tgtEl>
                                        <p:attrNameLst>
                                          <p:attrName>style.visibility</p:attrName>
                                        </p:attrNameLst>
                                      </p:cBhvr>
                                      <p:to>
                                        <p:strVal val="visible"/>
                                      </p:to>
                                    </p:set>
                                    <p:anim calcmode="lin" valueType="num">
                                      <p:cBhvr additive="base">
                                        <p:cTn id="18" dur="500" fill="hold"/>
                                        <p:tgtEl>
                                          <p:spTgt spid="263177"/>
                                        </p:tgtEl>
                                        <p:attrNameLst>
                                          <p:attrName>ppt_x</p:attrName>
                                        </p:attrNameLst>
                                      </p:cBhvr>
                                      <p:tavLst>
                                        <p:tav tm="0">
                                          <p:val>
                                            <p:strVal val="0-#ppt_w/2"/>
                                          </p:val>
                                        </p:tav>
                                        <p:tav tm="100000">
                                          <p:val>
                                            <p:strVal val="#ppt_x"/>
                                          </p:val>
                                        </p:tav>
                                      </p:tavLst>
                                    </p:anim>
                                    <p:anim calcmode="lin" valueType="num">
                                      <p:cBhvr additive="base">
                                        <p:cTn id="19" dur="500" fill="hold"/>
                                        <p:tgtEl>
                                          <p:spTgt spid="2631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7"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sz="4000" dirty="0"/>
              <a:t>Dependencies: Definitions</a:t>
            </a:r>
          </a:p>
        </p:txBody>
      </p:sp>
      <p:sp>
        <p:nvSpPr>
          <p:cNvPr id="4100" name="Rectangle 3"/>
          <p:cNvSpPr>
            <a:spLocks noGrp="1" noChangeArrowheads="1"/>
          </p:cNvSpPr>
          <p:nvPr>
            <p:ph type="body" idx="1"/>
          </p:nvPr>
        </p:nvSpPr>
        <p:spPr>
          <a:xfrm>
            <a:off x="685800" y="1752600"/>
            <a:ext cx="8154988" cy="1931988"/>
          </a:xfrm>
        </p:spPr>
        <p:txBody>
          <a:bodyPr/>
          <a:lstStyle/>
          <a:p>
            <a:r>
              <a:rPr lang="en-US" b="1" i="1" dirty="0"/>
              <a:t>Transitive Dependency</a:t>
            </a:r>
            <a:r>
              <a:rPr lang="en-US" dirty="0"/>
              <a:t> – when a non-key attribute determines another non-key attribute.</a:t>
            </a:r>
          </a:p>
        </p:txBody>
      </p:sp>
      <p:graphicFrame>
        <p:nvGraphicFramePr>
          <p:cNvPr id="264196" name="Object 4"/>
          <p:cNvGraphicFramePr>
            <a:graphicFrameLocks noChangeAspect="1"/>
          </p:cNvGraphicFramePr>
          <p:nvPr/>
        </p:nvGraphicFramePr>
        <p:xfrm>
          <a:off x="685800" y="3733800"/>
          <a:ext cx="7543800" cy="1933575"/>
        </p:xfrm>
        <a:graphic>
          <a:graphicData uri="http://schemas.openxmlformats.org/presentationml/2006/ole">
            <mc:AlternateContent xmlns:mc="http://schemas.openxmlformats.org/markup-compatibility/2006">
              <mc:Choice xmlns:v="urn:schemas-microsoft-com:vml" Requires="v">
                <p:oleObj name="Worksheet" r:id="rId2" imgW="3752757" imgH="961937" progId="Excel.Sheet.8">
                  <p:embed/>
                </p:oleObj>
              </mc:Choice>
              <mc:Fallback>
                <p:oleObj name="Worksheet" r:id="rId2" imgW="3752757" imgH="961937"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733800"/>
                        <a:ext cx="7543800" cy="193357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5"/>
          <p:cNvGrpSpPr>
            <a:grpSpLocks/>
          </p:cNvGrpSpPr>
          <p:nvPr/>
        </p:nvGrpSpPr>
        <p:grpSpPr bwMode="auto">
          <a:xfrm>
            <a:off x="1295400" y="4114800"/>
            <a:ext cx="4343400" cy="304800"/>
            <a:chOff x="816" y="2592"/>
            <a:chExt cx="2736" cy="192"/>
          </a:xfrm>
        </p:grpSpPr>
        <p:grpSp>
          <p:nvGrpSpPr>
            <p:cNvPr id="3" name="Group 6"/>
            <p:cNvGrpSpPr>
              <a:grpSpLocks/>
            </p:cNvGrpSpPr>
            <p:nvPr/>
          </p:nvGrpSpPr>
          <p:grpSpPr bwMode="auto">
            <a:xfrm>
              <a:off x="816" y="2592"/>
              <a:ext cx="1008" cy="192"/>
              <a:chOff x="1200" y="2448"/>
              <a:chExt cx="816" cy="144"/>
            </a:xfrm>
          </p:grpSpPr>
          <p:sp>
            <p:nvSpPr>
              <p:cNvPr id="4117"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8"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9"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2832" y="2592"/>
              <a:ext cx="720" cy="192"/>
              <a:chOff x="1200" y="2448"/>
              <a:chExt cx="816" cy="144"/>
            </a:xfrm>
          </p:grpSpPr>
          <p:sp>
            <p:nvSpPr>
              <p:cNvPr id="4114"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5"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6"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1824" y="2592"/>
              <a:ext cx="1008" cy="192"/>
              <a:chOff x="1200" y="2448"/>
              <a:chExt cx="816" cy="144"/>
            </a:xfrm>
          </p:grpSpPr>
          <p:sp>
            <p:nvSpPr>
              <p:cNvPr id="4111"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12"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13"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6" name="Group 18"/>
          <p:cNvGrpSpPr>
            <a:grpSpLocks/>
          </p:cNvGrpSpPr>
          <p:nvPr/>
        </p:nvGrpSpPr>
        <p:grpSpPr bwMode="auto">
          <a:xfrm>
            <a:off x="6096000" y="4114800"/>
            <a:ext cx="1219200" cy="304800"/>
            <a:chOff x="1200" y="2448"/>
            <a:chExt cx="816" cy="144"/>
          </a:xfrm>
        </p:grpSpPr>
        <p:sp>
          <p:nvSpPr>
            <p:cNvPr id="4105" name="Line 19"/>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4106" name="Line 20"/>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4107" name="Line 21"/>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64214" name="Oval 22"/>
          <p:cNvSpPr>
            <a:spLocks noChangeArrowheads="1"/>
          </p:cNvSpPr>
          <p:nvPr/>
        </p:nvSpPr>
        <p:spPr bwMode="auto">
          <a:xfrm>
            <a:off x="5791200" y="3810000"/>
            <a:ext cx="1981200" cy="914400"/>
          </a:xfrm>
          <a:prstGeom prst="ellipse">
            <a:avLst/>
          </a:prstGeom>
          <a:noFill/>
          <a:ln w="28575">
            <a:solidFill>
              <a:schemeClr val="tx2"/>
            </a:solidFill>
            <a:round/>
            <a:headEnd/>
            <a:tailEnd/>
          </a:ln>
        </p:spPr>
        <p:txBody>
          <a:bodyPr wrap="none" anchor="ctr"/>
          <a:lstStyle/>
          <a:p>
            <a:endParaRPr lang="en-US" dirty="0"/>
          </a:p>
        </p:txBody>
      </p:sp>
      <p:sp>
        <p:nvSpPr>
          <p:cNvPr id="264215" name="AutoShape 23"/>
          <p:cNvSpPr>
            <a:spLocks noChangeArrowheads="1"/>
          </p:cNvSpPr>
          <p:nvPr/>
        </p:nvSpPr>
        <p:spPr bwMode="auto">
          <a:xfrm>
            <a:off x="3886200" y="2895600"/>
            <a:ext cx="2819400" cy="762000"/>
          </a:xfrm>
          <a:prstGeom prst="wedgeEllipseCallout">
            <a:avLst>
              <a:gd name="adj1" fmla="val 46792"/>
              <a:gd name="adj2" fmla="val 73542"/>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Transitive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4196"/>
                                        </p:tgtEl>
                                        <p:attrNameLst>
                                          <p:attrName>style.visibility</p:attrName>
                                        </p:attrNameLst>
                                      </p:cBhvr>
                                      <p:to>
                                        <p:strVal val="visible"/>
                                      </p:to>
                                    </p:set>
                                    <p:anim calcmode="lin" valueType="num">
                                      <p:cBhvr additive="base">
                                        <p:cTn id="7" dur="500" fill="hold"/>
                                        <p:tgtEl>
                                          <p:spTgt spid="264196"/>
                                        </p:tgtEl>
                                        <p:attrNameLst>
                                          <p:attrName>ppt_x</p:attrName>
                                        </p:attrNameLst>
                                      </p:cBhvr>
                                      <p:tavLst>
                                        <p:tav tm="0">
                                          <p:val>
                                            <p:strVal val="0-#ppt_w/2"/>
                                          </p:val>
                                        </p:tav>
                                        <p:tav tm="100000">
                                          <p:val>
                                            <p:strVal val="#ppt_x"/>
                                          </p:val>
                                        </p:tav>
                                      </p:tavLst>
                                    </p:anim>
                                    <p:anim calcmode="lin" valueType="num">
                                      <p:cBhvr additive="base">
                                        <p:cTn id="8" dur="500" fill="hold"/>
                                        <p:tgtEl>
                                          <p:spTgt spid="26419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4214"/>
                                        </p:tgtEl>
                                        <p:attrNameLst>
                                          <p:attrName>style.visibility</p:attrName>
                                        </p:attrNameLst>
                                      </p:cBhvr>
                                      <p:to>
                                        <p:strVal val="visible"/>
                                      </p:to>
                                    </p:set>
                                    <p:anim calcmode="lin" valueType="num">
                                      <p:cBhvr additive="base">
                                        <p:cTn id="25" dur="500" fill="hold"/>
                                        <p:tgtEl>
                                          <p:spTgt spid="264214"/>
                                        </p:tgtEl>
                                        <p:attrNameLst>
                                          <p:attrName>ppt_x</p:attrName>
                                        </p:attrNameLst>
                                      </p:cBhvr>
                                      <p:tavLst>
                                        <p:tav tm="0">
                                          <p:val>
                                            <p:strVal val="0-#ppt_w/2"/>
                                          </p:val>
                                        </p:tav>
                                        <p:tav tm="100000">
                                          <p:val>
                                            <p:strVal val="#ppt_x"/>
                                          </p:val>
                                        </p:tav>
                                      </p:tavLst>
                                    </p:anim>
                                    <p:anim calcmode="lin" valueType="num">
                                      <p:cBhvr additive="base">
                                        <p:cTn id="26" dur="500" fill="hold"/>
                                        <p:tgtEl>
                                          <p:spTgt spid="264214"/>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grpId="0" nodeType="afterEffect">
                                  <p:stCondLst>
                                    <p:cond delay="0"/>
                                  </p:stCondLst>
                                  <p:childTnLst>
                                    <p:set>
                                      <p:cBhvr>
                                        <p:cTn id="29" dur="1" fill="hold">
                                          <p:stCondLst>
                                            <p:cond delay="0"/>
                                          </p:stCondLst>
                                        </p:cTn>
                                        <p:tgtEl>
                                          <p:spTgt spid="264215"/>
                                        </p:tgtEl>
                                        <p:attrNameLst>
                                          <p:attrName>style.visibility</p:attrName>
                                        </p:attrNameLst>
                                      </p:cBhvr>
                                      <p:to>
                                        <p:strVal val="visible"/>
                                      </p:to>
                                    </p:set>
                                    <p:anim calcmode="lin" valueType="num">
                                      <p:cBhvr additive="base">
                                        <p:cTn id="30" dur="500" fill="hold"/>
                                        <p:tgtEl>
                                          <p:spTgt spid="264215"/>
                                        </p:tgtEl>
                                        <p:attrNameLst>
                                          <p:attrName>ppt_x</p:attrName>
                                        </p:attrNameLst>
                                      </p:cBhvr>
                                      <p:tavLst>
                                        <p:tav tm="0">
                                          <p:val>
                                            <p:strVal val="0-#ppt_w/2"/>
                                          </p:val>
                                        </p:tav>
                                        <p:tav tm="100000">
                                          <p:val>
                                            <p:strVal val="#ppt_x"/>
                                          </p:val>
                                        </p:tav>
                                      </p:tavLst>
                                    </p:anim>
                                    <p:anim calcmode="lin" valueType="num">
                                      <p:cBhvr additive="base">
                                        <p:cTn id="31" dur="500" fill="hold"/>
                                        <p:tgtEl>
                                          <p:spTgt spid="2642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214" grpId="0" animBg="1"/>
      <p:bldP spid="264215"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533400"/>
          </a:xfrm>
        </p:spPr>
        <p:txBody>
          <a:bodyPr>
            <a:normAutofit fontScale="90000"/>
          </a:bodyPr>
          <a:lstStyle/>
          <a:p>
            <a:r>
              <a:rPr lang="en-US" dirty="0"/>
              <a:t>Normal Forms: Review</a:t>
            </a:r>
          </a:p>
        </p:txBody>
      </p:sp>
      <p:sp>
        <p:nvSpPr>
          <p:cNvPr id="28675" name="Rectangle 3"/>
          <p:cNvSpPr>
            <a:spLocks noGrp="1" noChangeArrowheads="1"/>
          </p:cNvSpPr>
          <p:nvPr>
            <p:ph type="body" idx="1"/>
          </p:nvPr>
        </p:nvSpPr>
        <p:spPr>
          <a:xfrm>
            <a:off x="152400" y="533400"/>
            <a:ext cx="8534400" cy="6324599"/>
          </a:xfrm>
        </p:spPr>
        <p:txBody>
          <a:bodyPr>
            <a:normAutofit/>
          </a:bodyPr>
          <a:lstStyle/>
          <a:p>
            <a:pPr marL="609600" indent="-609600"/>
            <a:r>
              <a:rPr lang="en-US" sz="2800" dirty="0"/>
              <a:t>Unnormalized – There are multivalued attributes or repeating groups</a:t>
            </a:r>
          </a:p>
          <a:p>
            <a:pPr marL="609600" indent="-609600"/>
            <a:r>
              <a:rPr lang="en-US" sz="2800" dirty="0"/>
              <a:t>1 NF – No multivalued attributes or repeating groups (any row must not have a column in which more than one value is saved, like separated with commas. Rather than that, we must separate such data into multiple rows).</a:t>
            </a:r>
          </a:p>
          <a:p>
            <a:pPr marL="609600" indent="-609600"/>
            <a:r>
              <a:rPr lang="en-US" sz="2800" dirty="0"/>
              <a:t>2 NF – 1 NF plus no partial dependencies</a:t>
            </a:r>
          </a:p>
          <a:p>
            <a:pPr marL="609600" indent="-609600"/>
            <a:r>
              <a:rPr lang="en-US" sz="2800" dirty="0"/>
              <a:t>3 NF – 2 NF plus no transitive dependencies .</a:t>
            </a:r>
          </a:p>
          <a:p>
            <a:pPr marL="1009650" lvl="1" indent="-609600">
              <a:buNone/>
            </a:pPr>
            <a:r>
              <a:rPr lang="en-US" sz="2400" dirty="0"/>
              <a:t>The advantage of removing transitive dependency is,</a:t>
            </a:r>
          </a:p>
          <a:p>
            <a:pPr marL="1009650" lvl="1" indent="-609600"/>
            <a:r>
              <a:rPr lang="en-US" sz="2400" dirty="0"/>
              <a:t>Amount of data duplication is reduced.</a:t>
            </a:r>
          </a:p>
          <a:p>
            <a:pPr marL="1009650" lvl="1" indent="-609600"/>
            <a:r>
              <a:rPr lang="en-US" sz="2400"/>
              <a:t>Data integrity is achieved</a:t>
            </a:r>
            <a:r>
              <a:rPr lang="en-US" sz="2400" dirty="0"/>
              <a:t>.</a:t>
            </a:r>
            <a:endParaRPr lang="en-US" sz="2800" dirty="0"/>
          </a:p>
          <a:p>
            <a:pPr marL="609600" indent="-609600">
              <a:buNone/>
            </a:pPr>
            <a:endParaRPr lang="en-US" sz="2800" dirty="0"/>
          </a:p>
          <a:p>
            <a:pPr marL="1009650" lvl="1" indent="-609600"/>
            <a:endParaRPr lang="en-US" sz="24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dirty="0"/>
              <a:t>Example 1: Determine NF</a:t>
            </a:r>
          </a:p>
        </p:txBody>
      </p:sp>
      <p:sp>
        <p:nvSpPr>
          <p:cNvPr id="5124"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a:t>ISBN </a:t>
            </a:r>
            <a:r>
              <a:rPr lang="en-US" sz="2400" dirty="0">
                <a:sym typeface="Wingdings" pitchFamily="2" charset="2"/>
              </a:rPr>
              <a:t> Title</a:t>
            </a:r>
          </a:p>
          <a:p>
            <a:pPr>
              <a:lnSpc>
                <a:spcPct val="90000"/>
              </a:lnSpc>
            </a:pPr>
            <a:r>
              <a:rPr lang="en-US" sz="2400" dirty="0">
                <a:sym typeface="Wingdings" pitchFamily="2" charset="2"/>
              </a:rPr>
              <a:t>ISBN  Publisher</a:t>
            </a:r>
          </a:p>
          <a:p>
            <a:pPr>
              <a:lnSpc>
                <a:spcPct val="90000"/>
              </a:lnSpc>
            </a:pPr>
            <a:r>
              <a:rPr lang="en-US" sz="2400" dirty="0">
                <a:sym typeface="Wingdings" pitchFamily="2" charset="2"/>
              </a:rPr>
              <a:t>Publisher  Address</a:t>
            </a:r>
            <a:endParaRPr lang="en-US" sz="2400" dirty="0"/>
          </a:p>
        </p:txBody>
      </p:sp>
      <p:graphicFrame>
        <p:nvGraphicFramePr>
          <p:cNvPr id="5122" name="Object 4"/>
          <p:cNvGraphicFramePr>
            <a:graphicFrameLocks noChangeAspect="1"/>
          </p:cNvGraphicFramePr>
          <p:nvPr/>
        </p:nvGraphicFramePr>
        <p:xfrm>
          <a:off x="990600" y="3429000"/>
          <a:ext cx="7315200" cy="1349375"/>
        </p:xfrm>
        <a:graphic>
          <a:graphicData uri="http://schemas.openxmlformats.org/presentationml/2006/ole">
            <mc:AlternateContent xmlns:mc="http://schemas.openxmlformats.org/markup-compatibility/2006">
              <mc:Choice xmlns:v="urn:schemas-microsoft-com:vml" Requires="v">
                <p:oleObj name="Worksheet" r:id="rId2" imgW="3296160" imgH="607680" progId="Excel.Sheet.8">
                  <p:embed/>
                </p:oleObj>
              </mc:Choice>
              <mc:Fallback>
                <p:oleObj name="Worksheet" r:id="rId2" imgW="3296160" imgH="607680"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429000"/>
                        <a:ext cx="7315200" cy="134937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5"/>
          <p:cNvGrpSpPr>
            <a:grpSpLocks/>
          </p:cNvGrpSpPr>
          <p:nvPr/>
        </p:nvGrpSpPr>
        <p:grpSpPr bwMode="auto">
          <a:xfrm>
            <a:off x="1905000" y="4038600"/>
            <a:ext cx="1295400" cy="228600"/>
            <a:chOff x="1200" y="2448"/>
            <a:chExt cx="816" cy="144"/>
          </a:xfrm>
        </p:grpSpPr>
        <p:sp>
          <p:nvSpPr>
            <p:cNvPr id="5135"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6"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7"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3" name="Group 9"/>
          <p:cNvGrpSpPr>
            <a:grpSpLocks/>
          </p:cNvGrpSpPr>
          <p:nvPr/>
        </p:nvGrpSpPr>
        <p:grpSpPr bwMode="auto">
          <a:xfrm>
            <a:off x="1905000" y="4038600"/>
            <a:ext cx="3276600" cy="228600"/>
            <a:chOff x="1200" y="2448"/>
            <a:chExt cx="816" cy="144"/>
          </a:xfrm>
        </p:grpSpPr>
        <p:sp>
          <p:nvSpPr>
            <p:cNvPr id="5132"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3"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4"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3"/>
          <p:cNvGrpSpPr>
            <a:grpSpLocks/>
          </p:cNvGrpSpPr>
          <p:nvPr/>
        </p:nvGrpSpPr>
        <p:grpSpPr bwMode="auto">
          <a:xfrm>
            <a:off x="5791200" y="4038600"/>
            <a:ext cx="1295400" cy="228600"/>
            <a:chOff x="1200" y="2448"/>
            <a:chExt cx="816" cy="144"/>
          </a:xfrm>
        </p:grpSpPr>
        <p:sp>
          <p:nvSpPr>
            <p:cNvPr id="5129" name="Line 14"/>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5130" name="Line 15"/>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5131" name="Line 16"/>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39633" name="AutoShape 17"/>
          <p:cNvSpPr>
            <a:spLocks noChangeArrowheads="1"/>
          </p:cNvSpPr>
          <p:nvPr/>
        </p:nvSpPr>
        <p:spPr bwMode="auto">
          <a:xfrm>
            <a:off x="4343400" y="1447800"/>
            <a:ext cx="4114800" cy="1981200"/>
          </a:xfrm>
          <a:prstGeom prst="wedgeEllipseCallout">
            <a:avLst>
              <a:gd name="adj1" fmla="val -24537"/>
              <a:gd name="adj2" fmla="val 6938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All attributes are directly or indirectly determined by the primary key; therefore, the relation is at least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33"/>
                                        </p:tgtEl>
                                        <p:attrNameLst>
                                          <p:attrName>style.visibility</p:attrName>
                                        </p:attrNameLst>
                                      </p:cBhvr>
                                      <p:to>
                                        <p:strVal val="visible"/>
                                      </p:to>
                                    </p:set>
                                    <p:anim calcmode="lin" valueType="num">
                                      <p:cBhvr additive="base">
                                        <p:cTn id="25" dur="500" fill="hold"/>
                                        <p:tgtEl>
                                          <p:spTgt spid="239633"/>
                                        </p:tgtEl>
                                        <p:attrNameLst>
                                          <p:attrName>ppt_x</p:attrName>
                                        </p:attrNameLst>
                                      </p:cBhvr>
                                      <p:tavLst>
                                        <p:tav tm="0">
                                          <p:val>
                                            <p:strVal val="0-#ppt_w/2"/>
                                          </p:val>
                                        </p:tav>
                                        <p:tav tm="100000">
                                          <p:val>
                                            <p:strVal val="#ppt_x"/>
                                          </p:val>
                                        </p:tav>
                                      </p:tavLst>
                                    </p:anim>
                                    <p:anim calcmode="lin" valueType="num">
                                      <p:cBhvr additive="base">
                                        <p:cTn id="26" dur="500" fill="hold"/>
                                        <p:tgtEl>
                                          <p:spTgt spid="23963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3963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33"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dirty="0"/>
              <a:t>Example 1: Determine NF</a:t>
            </a:r>
          </a:p>
        </p:txBody>
      </p:sp>
      <p:sp>
        <p:nvSpPr>
          <p:cNvPr id="6148"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a:t>ISBN </a:t>
            </a:r>
            <a:r>
              <a:rPr lang="en-US" sz="2400" dirty="0">
                <a:sym typeface="Wingdings" pitchFamily="2" charset="2"/>
              </a:rPr>
              <a:t> Title</a:t>
            </a:r>
          </a:p>
          <a:p>
            <a:pPr>
              <a:lnSpc>
                <a:spcPct val="90000"/>
              </a:lnSpc>
            </a:pPr>
            <a:r>
              <a:rPr lang="en-US" sz="2400" dirty="0">
                <a:sym typeface="Wingdings" pitchFamily="2" charset="2"/>
              </a:rPr>
              <a:t>ISBN  Publisher</a:t>
            </a:r>
          </a:p>
          <a:p>
            <a:pPr>
              <a:lnSpc>
                <a:spcPct val="90000"/>
              </a:lnSpc>
            </a:pPr>
            <a:r>
              <a:rPr lang="en-US" sz="2400" dirty="0">
                <a:sym typeface="Wingdings" pitchFamily="2" charset="2"/>
              </a:rPr>
              <a:t>Publisher  Address</a:t>
            </a:r>
            <a:endParaRPr lang="en-US" sz="2400" dirty="0"/>
          </a:p>
        </p:txBody>
      </p:sp>
      <p:grpSp>
        <p:nvGrpSpPr>
          <p:cNvPr id="2" name="Group 4"/>
          <p:cNvGrpSpPr>
            <a:grpSpLocks/>
          </p:cNvGrpSpPr>
          <p:nvPr/>
        </p:nvGrpSpPr>
        <p:grpSpPr bwMode="auto">
          <a:xfrm>
            <a:off x="990600" y="3429000"/>
            <a:ext cx="7315200" cy="1349375"/>
            <a:chOff x="624" y="2160"/>
            <a:chExt cx="4608" cy="850"/>
          </a:xfrm>
        </p:grpSpPr>
        <p:graphicFrame>
          <p:nvGraphicFramePr>
            <p:cNvPr id="6146" name="Object 5"/>
            <p:cNvGraphicFramePr>
              <a:graphicFrameLocks noChangeAspect="1"/>
            </p:cNvGraphicFramePr>
            <p:nvPr/>
          </p:nvGraphicFramePr>
          <p:xfrm>
            <a:off x="624" y="2160"/>
            <a:ext cx="4608" cy="850"/>
          </p:xfrm>
          <a:graphic>
            <a:graphicData uri="http://schemas.openxmlformats.org/presentationml/2006/ole">
              <mc:AlternateContent xmlns:mc="http://schemas.openxmlformats.org/markup-compatibility/2006">
                <mc:Choice xmlns:v="urn:schemas-microsoft-com:vml" Requires="v">
                  <p:oleObj name="Worksheet" r:id="rId2" imgW="3296160" imgH="607680" progId="Excel.Sheet.8">
                    <p:embed/>
                  </p:oleObj>
                </mc:Choice>
                <mc:Fallback>
                  <p:oleObj name="Worksheet" r:id="rId2" imgW="3296160" imgH="607680"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2160"/>
                          <a:ext cx="4608" cy="85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1200" y="2544"/>
              <a:ext cx="816" cy="144"/>
              <a:chOff x="1200" y="2448"/>
              <a:chExt cx="816" cy="144"/>
            </a:xfrm>
          </p:grpSpPr>
          <p:sp>
            <p:nvSpPr>
              <p:cNvPr id="6160"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61"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62"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6157"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58"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59"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6154"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6155"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6156"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0658" name="AutoShape 18"/>
          <p:cNvSpPr>
            <a:spLocks noChangeArrowheads="1"/>
          </p:cNvSpPr>
          <p:nvPr/>
        </p:nvSpPr>
        <p:spPr bwMode="auto">
          <a:xfrm>
            <a:off x="3657600" y="1600200"/>
            <a:ext cx="4953000" cy="2209800"/>
          </a:xfrm>
          <a:prstGeom prst="wedgeEllipseCallout">
            <a:avLst>
              <a:gd name="adj1" fmla="val -45194"/>
              <a:gd name="adj2" fmla="val 50792"/>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The relation is at least in 1NF. There is no COMPOSITE primary key, therefore there can’t be partial dependencies.  Therefore, the relation is at least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58"/>
                                        </p:tgtEl>
                                        <p:attrNameLst>
                                          <p:attrName>style.visibility</p:attrName>
                                        </p:attrNameLst>
                                      </p:cBhvr>
                                      <p:to>
                                        <p:strVal val="visible"/>
                                      </p:to>
                                    </p:set>
                                    <p:anim calcmode="lin" valueType="num">
                                      <p:cBhvr additive="base">
                                        <p:cTn id="7" dur="500" fill="hold"/>
                                        <p:tgtEl>
                                          <p:spTgt spid="240658"/>
                                        </p:tgtEl>
                                        <p:attrNameLst>
                                          <p:attrName>ppt_x</p:attrName>
                                        </p:attrNameLst>
                                      </p:cBhvr>
                                      <p:tavLst>
                                        <p:tav tm="0">
                                          <p:val>
                                            <p:strVal val="0-#ppt_w/2"/>
                                          </p:val>
                                        </p:tav>
                                        <p:tav tm="100000">
                                          <p:val>
                                            <p:strVal val="#ppt_x"/>
                                          </p:val>
                                        </p:tav>
                                      </p:tavLst>
                                    </p:anim>
                                    <p:anim calcmode="lin" valueType="num">
                                      <p:cBhvr additive="base">
                                        <p:cTn id="8" dur="500" fill="hold"/>
                                        <p:tgtEl>
                                          <p:spTgt spid="24065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065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5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dirty="0"/>
              <a:t>Example 1: Determine NF</a:t>
            </a:r>
          </a:p>
        </p:txBody>
      </p:sp>
      <p:sp>
        <p:nvSpPr>
          <p:cNvPr id="7172"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a:t>ISBN </a:t>
            </a:r>
            <a:r>
              <a:rPr lang="en-US" sz="2400" dirty="0">
                <a:sym typeface="Wingdings" pitchFamily="2" charset="2"/>
              </a:rPr>
              <a:t> Title</a:t>
            </a:r>
          </a:p>
          <a:p>
            <a:pPr>
              <a:lnSpc>
                <a:spcPct val="90000"/>
              </a:lnSpc>
            </a:pPr>
            <a:r>
              <a:rPr lang="en-US" sz="2400" dirty="0">
                <a:sym typeface="Wingdings" pitchFamily="2" charset="2"/>
              </a:rPr>
              <a:t>ISBN  Publisher</a:t>
            </a:r>
          </a:p>
          <a:p>
            <a:pPr>
              <a:lnSpc>
                <a:spcPct val="90000"/>
              </a:lnSpc>
            </a:pPr>
            <a:r>
              <a:rPr lang="en-US" sz="2400" dirty="0">
                <a:sym typeface="Wingdings" pitchFamily="2" charset="2"/>
              </a:rPr>
              <a:t>Publisher  Address</a:t>
            </a:r>
            <a:endParaRPr lang="en-US" sz="2400" dirty="0"/>
          </a:p>
        </p:txBody>
      </p:sp>
      <p:graphicFrame>
        <p:nvGraphicFramePr>
          <p:cNvPr id="7170" name="Object 4"/>
          <p:cNvGraphicFramePr>
            <a:graphicFrameLocks noChangeAspect="1"/>
          </p:cNvGraphicFramePr>
          <p:nvPr/>
        </p:nvGraphicFramePr>
        <p:xfrm>
          <a:off x="990600" y="3429000"/>
          <a:ext cx="7315200" cy="1349375"/>
        </p:xfrm>
        <a:graphic>
          <a:graphicData uri="http://schemas.openxmlformats.org/presentationml/2006/ole">
            <mc:AlternateContent xmlns:mc="http://schemas.openxmlformats.org/markup-compatibility/2006">
              <mc:Choice xmlns:v="urn:schemas-microsoft-com:vml" Requires="v">
                <p:oleObj name="Worksheet" r:id="rId2" imgW="3296160" imgH="607680" progId="Excel.Sheet.8">
                  <p:embed/>
                </p:oleObj>
              </mc:Choice>
              <mc:Fallback>
                <p:oleObj name="Worksheet" r:id="rId2" imgW="3296160" imgH="607680"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429000"/>
                        <a:ext cx="7315200" cy="134937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5"/>
          <p:cNvGrpSpPr>
            <a:grpSpLocks/>
          </p:cNvGrpSpPr>
          <p:nvPr/>
        </p:nvGrpSpPr>
        <p:grpSpPr bwMode="auto">
          <a:xfrm>
            <a:off x="1905000" y="4038600"/>
            <a:ext cx="5181600" cy="228600"/>
            <a:chOff x="1200" y="2544"/>
            <a:chExt cx="3264" cy="144"/>
          </a:xfrm>
        </p:grpSpPr>
        <p:grpSp>
          <p:nvGrpSpPr>
            <p:cNvPr id="3" name="Group 6"/>
            <p:cNvGrpSpPr>
              <a:grpSpLocks/>
            </p:cNvGrpSpPr>
            <p:nvPr/>
          </p:nvGrpSpPr>
          <p:grpSpPr bwMode="auto">
            <a:xfrm>
              <a:off x="1200" y="2544"/>
              <a:ext cx="816" cy="144"/>
              <a:chOff x="1200" y="2448"/>
              <a:chExt cx="816" cy="144"/>
            </a:xfrm>
          </p:grpSpPr>
          <p:sp>
            <p:nvSpPr>
              <p:cNvPr id="7184"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85"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6"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7181"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82"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3"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7178"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7179"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7180"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1682" name="AutoShape 18"/>
          <p:cNvSpPr>
            <a:spLocks noChangeArrowheads="1"/>
          </p:cNvSpPr>
          <p:nvPr/>
        </p:nvSpPr>
        <p:spPr bwMode="auto">
          <a:xfrm>
            <a:off x="3657600" y="1371600"/>
            <a:ext cx="5486400" cy="2362200"/>
          </a:xfrm>
          <a:prstGeom prst="wedgeEllipseCallout">
            <a:avLst>
              <a:gd name="adj1" fmla="val -40537"/>
              <a:gd name="adj2" fmla="val 5920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Publisher is a non-key attribute, and it determines Address, another non-key attribute. Therefore, there is a transitive dependency, which means that the relation is NOT in 3 NF. </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82"/>
                                        </p:tgtEl>
                                        <p:attrNameLst>
                                          <p:attrName>style.visibility</p:attrName>
                                        </p:attrNameLst>
                                      </p:cBhvr>
                                      <p:to>
                                        <p:strVal val="visible"/>
                                      </p:to>
                                    </p:set>
                                    <p:anim calcmode="lin" valueType="num">
                                      <p:cBhvr additive="base">
                                        <p:cTn id="7" dur="500" fill="hold"/>
                                        <p:tgtEl>
                                          <p:spTgt spid="241682"/>
                                        </p:tgtEl>
                                        <p:attrNameLst>
                                          <p:attrName>ppt_x</p:attrName>
                                        </p:attrNameLst>
                                      </p:cBhvr>
                                      <p:tavLst>
                                        <p:tav tm="0">
                                          <p:val>
                                            <p:strVal val="0-#ppt_w/2"/>
                                          </p:val>
                                        </p:tav>
                                        <p:tav tm="100000">
                                          <p:val>
                                            <p:strVal val="#ppt_x"/>
                                          </p:val>
                                        </p:tav>
                                      </p:tavLst>
                                    </p:anim>
                                    <p:anim calcmode="lin" valueType="num">
                                      <p:cBhvr additive="base">
                                        <p:cTn id="8" dur="500" fill="hold"/>
                                        <p:tgtEl>
                                          <p:spTgt spid="24168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168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8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dirty="0"/>
              <a:t>Example 1: Determine NF</a:t>
            </a:r>
          </a:p>
        </p:txBody>
      </p:sp>
      <p:sp>
        <p:nvSpPr>
          <p:cNvPr id="8196"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a:t>ISBN </a:t>
            </a:r>
            <a:r>
              <a:rPr lang="en-US" sz="2400" dirty="0">
                <a:sym typeface="Wingdings" pitchFamily="2" charset="2"/>
              </a:rPr>
              <a:t> Title</a:t>
            </a:r>
          </a:p>
          <a:p>
            <a:pPr>
              <a:lnSpc>
                <a:spcPct val="90000"/>
              </a:lnSpc>
            </a:pPr>
            <a:r>
              <a:rPr lang="en-US" sz="2400" dirty="0">
                <a:sym typeface="Wingdings" pitchFamily="2" charset="2"/>
              </a:rPr>
              <a:t>ISBN  Publisher</a:t>
            </a:r>
          </a:p>
          <a:p>
            <a:pPr>
              <a:lnSpc>
                <a:spcPct val="90000"/>
              </a:lnSpc>
            </a:pPr>
            <a:r>
              <a:rPr lang="en-US" sz="2400" dirty="0">
                <a:sym typeface="Wingdings" pitchFamily="2" charset="2"/>
              </a:rPr>
              <a:t>Publisher  Address</a:t>
            </a:r>
            <a:endParaRPr lang="en-US" sz="2400" dirty="0"/>
          </a:p>
        </p:txBody>
      </p:sp>
      <p:graphicFrame>
        <p:nvGraphicFramePr>
          <p:cNvPr id="8194" name="Object 4"/>
          <p:cNvGraphicFramePr>
            <a:graphicFrameLocks noChangeAspect="1"/>
          </p:cNvGraphicFramePr>
          <p:nvPr/>
        </p:nvGraphicFramePr>
        <p:xfrm>
          <a:off x="990600" y="3429000"/>
          <a:ext cx="7315200" cy="1349375"/>
        </p:xfrm>
        <a:graphic>
          <a:graphicData uri="http://schemas.openxmlformats.org/presentationml/2006/ole">
            <mc:AlternateContent xmlns:mc="http://schemas.openxmlformats.org/markup-compatibility/2006">
              <mc:Choice xmlns:v="urn:schemas-microsoft-com:vml" Requires="v">
                <p:oleObj name="Worksheet" r:id="rId2" imgW="3296160" imgH="607680" progId="Excel.Sheet.8">
                  <p:embed/>
                </p:oleObj>
              </mc:Choice>
              <mc:Fallback>
                <p:oleObj name="Worksheet" r:id="rId2" imgW="3296160" imgH="607680"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429000"/>
                        <a:ext cx="7315200" cy="134937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5"/>
          <p:cNvGrpSpPr>
            <a:grpSpLocks/>
          </p:cNvGrpSpPr>
          <p:nvPr/>
        </p:nvGrpSpPr>
        <p:grpSpPr bwMode="auto">
          <a:xfrm>
            <a:off x="1905000" y="4038600"/>
            <a:ext cx="5181600" cy="228600"/>
            <a:chOff x="1200" y="2544"/>
            <a:chExt cx="3264" cy="144"/>
          </a:xfrm>
        </p:grpSpPr>
        <p:grpSp>
          <p:nvGrpSpPr>
            <p:cNvPr id="3" name="Group 6"/>
            <p:cNvGrpSpPr>
              <a:grpSpLocks/>
            </p:cNvGrpSpPr>
            <p:nvPr/>
          </p:nvGrpSpPr>
          <p:grpSpPr bwMode="auto">
            <a:xfrm>
              <a:off x="1200" y="2544"/>
              <a:ext cx="816" cy="144"/>
              <a:chOff x="1200" y="2448"/>
              <a:chExt cx="816" cy="144"/>
            </a:xfrm>
          </p:grpSpPr>
          <p:sp>
            <p:nvSpPr>
              <p:cNvPr id="8208"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9"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10"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2544"/>
              <a:ext cx="2064" cy="144"/>
              <a:chOff x="1200" y="2448"/>
              <a:chExt cx="816" cy="144"/>
            </a:xfrm>
          </p:grpSpPr>
          <p:sp>
            <p:nvSpPr>
              <p:cNvPr id="8205"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6"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07"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2544"/>
              <a:ext cx="816" cy="144"/>
              <a:chOff x="1200" y="2448"/>
              <a:chExt cx="816" cy="144"/>
            </a:xfrm>
          </p:grpSpPr>
          <p:sp>
            <p:nvSpPr>
              <p:cNvPr id="8202"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8203"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8204"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2706" name="AutoShape 18"/>
          <p:cNvSpPr>
            <a:spLocks noChangeArrowheads="1"/>
          </p:cNvSpPr>
          <p:nvPr/>
        </p:nvSpPr>
        <p:spPr bwMode="auto">
          <a:xfrm>
            <a:off x="3581400" y="1447800"/>
            <a:ext cx="4953000" cy="1676400"/>
          </a:xfrm>
          <a:prstGeom prst="wedgeEllipseCallout">
            <a:avLst>
              <a:gd name="adj1" fmla="val -23463"/>
              <a:gd name="adj2" fmla="val 8569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We know that the relation is at least in 2NF, and it is not in 3 NF. Therefore, we conclude that the relation is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706"/>
                                        </p:tgtEl>
                                        <p:attrNameLst>
                                          <p:attrName>style.visibility</p:attrName>
                                        </p:attrNameLst>
                                      </p:cBhvr>
                                      <p:to>
                                        <p:strVal val="visible"/>
                                      </p:to>
                                    </p:set>
                                    <p:anim calcmode="lin" valueType="num">
                                      <p:cBhvr additive="base">
                                        <p:cTn id="7" dur="500" fill="hold"/>
                                        <p:tgtEl>
                                          <p:spTgt spid="242706"/>
                                        </p:tgtEl>
                                        <p:attrNameLst>
                                          <p:attrName>ppt_x</p:attrName>
                                        </p:attrNameLst>
                                      </p:cBhvr>
                                      <p:tavLst>
                                        <p:tav tm="0">
                                          <p:val>
                                            <p:strVal val="0-#ppt_w/2"/>
                                          </p:val>
                                        </p:tav>
                                        <p:tav tm="100000">
                                          <p:val>
                                            <p:strVal val="#ppt_x"/>
                                          </p:val>
                                        </p:tav>
                                      </p:tavLst>
                                    </p:anim>
                                    <p:anim calcmode="lin" valueType="num">
                                      <p:cBhvr additive="base">
                                        <p:cTn id="8" dur="500" fill="hold"/>
                                        <p:tgtEl>
                                          <p:spTgt spid="242706"/>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270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0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dirty="0"/>
              <a:t>Example 1: Determine NF</a:t>
            </a:r>
          </a:p>
        </p:txBody>
      </p:sp>
      <p:sp>
        <p:nvSpPr>
          <p:cNvPr id="9220" name="Rectangle 3"/>
          <p:cNvSpPr>
            <a:spLocks noGrp="1" noChangeArrowheads="1"/>
          </p:cNvSpPr>
          <p:nvPr>
            <p:ph type="body" idx="1"/>
          </p:nvPr>
        </p:nvSpPr>
        <p:spPr>
          <a:xfrm>
            <a:off x="228600" y="1828800"/>
            <a:ext cx="3200400" cy="1143000"/>
          </a:xfrm>
        </p:spPr>
        <p:txBody>
          <a:bodyPr>
            <a:normAutofit lnSpcReduction="10000"/>
          </a:bodyPr>
          <a:lstStyle/>
          <a:p>
            <a:pPr>
              <a:lnSpc>
                <a:spcPct val="90000"/>
              </a:lnSpc>
            </a:pPr>
            <a:r>
              <a:rPr lang="en-US" sz="2400" dirty="0"/>
              <a:t>ISBN </a:t>
            </a:r>
            <a:r>
              <a:rPr lang="en-US" sz="2400" dirty="0">
                <a:sym typeface="Wingdings" pitchFamily="2" charset="2"/>
              </a:rPr>
              <a:t> Title</a:t>
            </a:r>
          </a:p>
          <a:p>
            <a:pPr>
              <a:lnSpc>
                <a:spcPct val="90000"/>
              </a:lnSpc>
            </a:pPr>
            <a:r>
              <a:rPr lang="en-US" sz="2400" dirty="0">
                <a:sym typeface="Wingdings" pitchFamily="2" charset="2"/>
              </a:rPr>
              <a:t>ISBN  Publisher</a:t>
            </a:r>
          </a:p>
          <a:p>
            <a:pPr>
              <a:lnSpc>
                <a:spcPct val="90000"/>
              </a:lnSpc>
            </a:pPr>
            <a:r>
              <a:rPr lang="en-US" sz="2400" dirty="0">
                <a:sym typeface="Wingdings" pitchFamily="2" charset="2"/>
              </a:rPr>
              <a:t>Publisher  Address</a:t>
            </a:r>
            <a:endParaRPr lang="en-US" sz="2400" dirty="0"/>
          </a:p>
        </p:txBody>
      </p:sp>
      <p:grpSp>
        <p:nvGrpSpPr>
          <p:cNvPr id="2" name="Group 4"/>
          <p:cNvGrpSpPr>
            <a:grpSpLocks/>
          </p:cNvGrpSpPr>
          <p:nvPr/>
        </p:nvGrpSpPr>
        <p:grpSpPr bwMode="auto">
          <a:xfrm>
            <a:off x="990600" y="4876800"/>
            <a:ext cx="7315200" cy="1349375"/>
            <a:chOff x="624" y="3072"/>
            <a:chExt cx="4608" cy="850"/>
          </a:xfrm>
        </p:grpSpPr>
        <p:graphicFrame>
          <p:nvGraphicFramePr>
            <p:cNvPr id="9218" name="Object 5"/>
            <p:cNvGraphicFramePr>
              <a:graphicFrameLocks noChangeAspect="1"/>
            </p:cNvGraphicFramePr>
            <p:nvPr/>
          </p:nvGraphicFramePr>
          <p:xfrm>
            <a:off x="624" y="3072"/>
            <a:ext cx="4608" cy="850"/>
          </p:xfrm>
          <a:graphic>
            <a:graphicData uri="http://schemas.openxmlformats.org/presentationml/2006/ole">
              <mc:AlternateContent xmlns:mc="http://schemas.openxmlformats.org/markup-compatibility/2006">
                <mc:Choice xmlns:v="urn:schemas-microsoft-com:vml" Requires="v">
                  <p:oleObj name="Worksheet" r:id="rId2" imgW="3296160" imgH="607680" progId="Excel.Sheet.8">
                    <p:embed/>
                  </p:oleObj>
                </mc:Choice>
                <mc:Fallback>
                  <p:oleObj name="Worksheet" r:id="rId2" imgW="3296160" imgH="607680"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 y="3072"/>
                          <a:ext cx="4608" cy="85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1200" y="3456"/>
              <a:ext cx="816" cy="144"/>
              <a:chOff x="1200" y="2448"/>
              <a:chExt cx="816" cy="144"/>
            </a:xfrm>
          </p:grpSpPr>
          <p:sp>
            <p:nvSpPr>
              <p:cNvPr id="9232"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33"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34"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0"/>
            <p:cNvGrpSpPr>
              <a:grpSpLocks/>
            </p:cNvGrpSpPr>
            <p:nvPr/>
          </p:nvGrpSpPr>
          <p:grpSpPr bwMode="auto">
            <a:xfrm>
              <a:off x="1200" y="3456"/>
              <a:ext cx="2064" cy="144"/>
              <a:chOff x="1200" y="2448"/>
              <a:chExt cx="816" cy="144"/>
            </a:xfrm>
          </p:grpSpPr>
          <p:sp>
            <p:nvSpPr>
              <p:cNvPr id="9229"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30"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31"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4"/>
            <p:cNvGrpSpPr>
              <a:grpSpLocks/>
            </p:cNvGrpSpPr>
            <p:nvPr/>
          </p:nvGrpSpPr>
          <p:grpSpPr bwMode="auto">
            <a:xfrm>
              <a:off x="3648" y="3456"/>
              <a:ext cx="816" cy="144"/>
              <a:chOff x="1200" y="2448"/>
              <a:chExt cx="816" cy="144"/>
            </a:xfrm>
          </p:grpSpPr>
          <p:sp>
            <p:nvSpPr>
              <p:cNvPr id="9226"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9227"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9228"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3730" name="AutoShape 18"/>
          <p:cNvSpPr>
            <a:spLocks noChangeArrowheads="1"/>
          </p:cNvSpPr>
          <p:nvPr/>
        </p:nvSpPr>
        <p:spPr bwMode="auto">
          <a:xfrm>
            <a:off x="2971800" y="1295400"/>
            <a:ext cx="6172200" cy="3886200"/>
          </a:xfrm>
          <a:prstGeom prst="wedgeEllipseCallout">
            <a:avLst>
              <a:gd name="adj1" fmla="val -24153"/>
              <a:gd name="adj2" fmla="val 49593"/>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buFontTx/>
              <a:buAutoNum type="arabicParenR"/>
            </a:pPr>
            <a:r>
              <a:rPr lang="en-US" sz="1800" b="1" dirty="0">
                <a:solidFill>
                  <a:schemeClr val="tx2"/>
                </a:solidFill>
              </a:rPr>
              <a:t>No M/V attributes, therefore at least 1NF</a:t>
            </a:r>
          </a:p>
          <a:p>
            <a:pPr marL="457200" indent="-457200" algn="ctr" eaLnBrk="1" hangingPunct="1">
              <a:buFontTx/>
              <a:buAutoNum type="arabicParenR"/>
            </a:pPr>
            <a:r>
              <a:rPr lang="en-US" sz="1800" b="1" dirty="0">
                <a:solidFill>
                  <a:schemeClr val="tx2"/>
                </a:solidFill>
              </a:rPr>
              <a:t>No partial dependencies, therefore at least 2NF</a:t>
            </a:r>
          </a:p>
          <a:p>
            <a:pPr marL="457200" indent="-457200" algn="ctr" eaLnBrk="1" hangingPunct="1">
              <a:buFontTx/>
              <a:buAutoNum type="arabicParenR"/>
            </a:pPr>
            <a:r>
              <a:rPr lang="en-US" sz="1800" b="1" dirty="0">
                <a:solidFill>
                  <a:schemeClr val="tx2"/>
                </a:solidFill>
              </a:rPr>
              <a:t>There is a transitive dependency (Publisher </a:t>
            </a:r>
            <a:r>
              <a:rPr lang="en-US" sz="1800" b="1" dirty="0">
                <a:solidFill>
                  <a:schemeClr val="tx2"/>
                </a:solidFill>
                <a:sym typeface="Wingdings" pitchFamily="2" charset="2"/>
              </a:rPr>
              <a:t> Address), therefore, not 3NF</a:t>
            </a:r>
          </a:p>
          <a:p>
            <a:pPr marL="457200" indent="-457200" algn="ctr" eaLnBrk="1" hangingPunct="1"/>
            <a:r>
              <a:rPr lang="en-US" sz="1800" b="1" dirty="0">
                <a:solidFill>
                  <a:schemeClr val="tx2"/>
                </a:solidFill>
              </a:rPr>
              <a:t>Conclusion: The relation is in 2NF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730"/>
                                        </p:tgtEl>
                                        <p:attrNameLst>
                                          <p:attrName>style.visibility</p:attrName>
                                        </p:attrNameLst>
                                      </p:cBhvr>
                                      <p:to>
                                        <p:strVal val="visible"/>
                                      </p:to>
                                    </p:set>
                                    <p:anim calcmode="lin" valueType="num">
                                      <p:cBhvr additive="base">
                                        <p:cTn id="7" dur="500" fill="hold"/>
                                        <p:tgtEl>
                                          <p:spTgt spid="243730"/>
                                        </p:tgtEl>
                                        <p:attrNameLst>
                                          <p:attrName>ppt_x</p:attrName>
                                        </p:attrNameLst>
                                      </p:cBhvr>
                                      <p:tavLst>
                                        <p:tav tm="0">
                                          <p:val>
                                            <p:strVal val="0-#ppt_w/2"/>
                                          </p:val>
                                        </p:tav>
                                        <p:tav tm="100000">
                                          <p:val>
                                            <p:strVal val="#ppt_x"/>
                                          </p:val>
                                        </p:tav>
                                      </p:tavLst>
                                    </p:anim>
                                    <p:anim calcmode="lin" valueType="num">
                                      <p:cBhvr additive="base">
                                        <p:cTn id="8" dur="500" fill="hold"/>
                                        <p:tgtEl>
                                          <p:spTgt spid="2437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3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a:t>Product_ID </a:t>
            </a:r>
            <a:r>
              <a:rPr lang="en-US" sz="2800" dirty="0">
                <a:sym typeface="Wingdings" pitchFamily="2" charset="2"/>
              </a:rPr>
              <a:t> Description</a:t>
            </a:r>
          </a:p>
        </p:txBody>
      </p:sp>
      <p:graphicFrame>
        <p:nvGraphicFramePr>
          <p:cNvPr id="10242" name="Object 3"/>
          <p:cNvGraphicFramePr>
            <a:graphicFrameLocks noChangeAspect="1"/>
          </p:cNvGraphicFramePr>
          <p:nvPr/>
        </p:nvGraphicFramePr>
        <p:xfrm>
          <a:off x="914400" y="3657600"/>
          <a:ext cx="6400800" cy="1360488"/>
        </p:xfrm>
        <a:graphic>
          <a:graphicData uri="http://schemas.openxmlformats.org/presentationml/2006/ole">
            <mc:AlternateContent xmlns:mc="http://schemas.openxmlformats.org/markup-compatibility/2006">
              <mc:Choice xmlns:v="urn:schemas-microsoft-com:vml" Requires="v">
                <p:oleObj name="Worksheet" r:id="rId2" imgW="2857680" imgH="607680" progId="Excel.Sheet.8">
                  <p:embed/>
                </p:oleObj>
              </mc:Choice>
              <mc:Fallback>
                <p:oleObj name="Worksheet" r:id="rId2" imgW="2857680" imgH="607680"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657600"/>
                        <a:ext cx="6400800" cy="136048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sp>
        <p:nvSpPr>
          <p:cNvPr id="10244" name="Rectangle 4"/>
          <p:cNvSpPr>
            <a:spLocks noGrp="1" noChangeArrowheads="1"/>
          </p:cNvSpPr>
          <p:nvPr>
            <p:ph type="title"/>
          </p:nvPr>
        </p:nvSpPr>
        <p:spPr/>
        <p:txBody>
          <a:bodyPr/>
          <a:lstStyle/>
          <a:p>
            <a:r>
              <a:rPr lang="en-US" dirty="0"/>
              <a:t>Example 2: Determine NF</a:t>
            </a:r>
          </a:p>
        </p:txBody>
      </p:sp>
      <p:grpSp>
        <p:nvGrpSpPr>
          <p:cNvPr id="2" name="Group 5"/>
          <p:cNvGrpSpPr>
            <a:grpSpLocks/>
          </p:cNvGrpSpPr>
          <p:nvPr/>
        </p:nvGrpSpPr>
        <p:grpSpPr bwMode="auto">
          <a:xfrm>
            <a:off x="4572000" y="4267200"/>
            <a:ext cx="1295400" cy="228600"/>
            <a:chOff x="1200" y="2448"/>
            <a:chExt cx="816" cy="144"/>
          </a:xfrm>
        </p:grpSpPr>
        <p:sp>
          <p:nvSpPr>
            <p:cNvPr id="10247"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0248"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0249"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44745" name="AutoShape 9"/>
          <p:cNvSpPr>
            <a:spLocks noChangeArrowheads="1"/>
          </p:cNvSpPr>
          <p:nvPr/>
        </p:nvSpPr>
        <p:spPr bwMode="auto">
          <a:xfrm>
            <a:off x="2743200" y="2286000"/>
            <a:ext cx="5791200" cy="1676400"/>
          </a:xfrm>
          <a:prstGeom prst="wedgeEllipseCallout">
            <a:avLst>
              <a:gd name="adj1" fmla="val -17847"/>
              <a:gd name="adj2" fmla="val 60699"/>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All attributes are directly or indirectly determined by the primary key; therefore, the relation is at least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4745"/>
                                        </p:tgtEl>
                                        <p:attrNameLst>
                                          <p:attrName>style.visibility</p:attrName>
                                        </p:attrNameLst>
                                      </p:cBhvr>
                                      <p:to>
                                        <p:strVal val="visible"/>
                                      </p:to>
                                    </p:set>
                                    <p:anim calcmode="lin" valueType="num">
                                      <p:cBhvr additive="base">
                                        <p:cTn id="13" dur="500" fill="hold"/>
                                        <p:tgtEl>
                                          <p:spTgt spid="244745"/>
                                        </p:tgtEl>
                                        <p:attrNameLst>
                                          <p:attrName>ppt_x</p:attrName>
                                        </p:attrNameLst>
                                      </p:cBhvr>
                                      <p:tavLst>
                                        <p:tav tm="0">
                                          <p:val>
                                            <p:strVal val="0-#ppt_w/2"/>
                                          </p:val>
                                        </p:tav>
                                        <p:tav tm="100000">
                                          <p:val>
                                            <p:strVal val="#ppt_x"/>
                                          </p:val>
                                        </p:tav>
                                      </p:tavLst>
                                    </p:anim>
                                    <p:anim calcmode="lin" valueType="num">
                                      <p:cBhvr additive="base">
                                        <p:cTn id="14" dur="500" fill="hold"/>
                                        <p:tgtEl>
                                          <p:spTgt spid="24474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474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5"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a:t>Product_ID </a:t>
            </a:r>
            <a:r>
              <a:rPr lang="en-US" sz="2800" dirty="0">
                <a:sym typeface="Wingdings" pitchFamily="2" charset="2"/>
              </a:rPr>
              <a:t> Description</a:t>
            </a:r>
          </a:p>
        </p:txBody>
      </p:sp>
      <p:sp>
        <p:nvSpPr>
          <p:cNvPr id="11268" name="Rectangle 3"/>
          <p:cNvSpPr>
            <a:spLocks noGrp="1" noChangeArrowheads="1"/>
          </p:cNvSpPr>
          <p:nvPr>
            <p:ph type="title"/>
          </p:nvPr>
        </p:nvSpPr>
        <p:spPr/>
        <p:txBody>
          <a:bodyPr/>
          <a:lstStyle/>
          <a:p>
            <a:r>
              <a:rPr lang="en-US" dirty="0"/>
              <a:t>Example 2: Determine NF</a:t>
            </a:r>
          </a:p>
        </p:txBody>
      </p:sp>
      <p:grpSp>
        <p:nvGrpSpPr>
          <p:cNvPr id="2" name="Group 4"/>
          <p:cNvGrpSpPr>
            <a:grpSpLocks/>
          </p:cNvGrpSpPr>
          <p:nvPr/>
        </p:nvGrpSpPr>
        <p:grpSpPr bwMode="auto">
          <a:xfrm>
            <a:off x="914400" y="4724400"/>
            <a:ext cx="6400800" cy="1360488"/>
            <a:chOff x="576" y="2976"/>
            <a:chExt cx="4032" cy="857"/>
          </a:xfrm>
        </p:grpSpPr>
        <p:graphicFrame>
          <p:nvGraphicFramePr>
            <p:cNvPr id="11266" name="Object 5"/>
            <p:cNvGraphicFramePr>
              <a:graphicFrameLocks noChangeAspect="1"/>
            </p:cNvGraphicFramePr>
            <p:nvPr/>
          </p:nvGraphicFramePr>
          <p:xfrm>
            <a:off x="576" y="2976"/>
            <a:ext cx="4032" cy="857"/>
          </p:xfrm>
          <a:graphic>
            <a:graphicData uri="http://schemas.openxmlformats.org/presentationml/2006/ole">
              <mc:AlternateContent xmlns:mc="http://schemas.openxmlformats.org/markup-compatibility/2006">
                <mc:Choice xmlns:v="urn:schemas-microsoft-com:vml" Requires="v">
                  <p:oleObj name="Worksheet" r:id="rId2" imgW="2857680" imgH="607680" progId="Excel.Sheet.8">
                    <p:embed/>
                  </p:oleObj>
                </mc:Choice>
                <mc:Fallback>
                  <p:oleObj name="Worksheet" r:id="rId2" imgW="2857680" imgH="607680"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2976"/>
                          <a:ext cx="4032" cy="857"/>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2880" y="3360"/>
              <a:ext cx="816" cy="144"/>
              <a:chOff x="1200" y="2448"/>
              <a:chExt cx="816" cy="144"/>
            </a:xfrm>
          </p:grpSpPr>
          <p:sp>
            <p:nvSpPr>
              <p:cNvPr id="11272"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1273"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1274"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5770" name="AutoShape 10"/>
          <p:cNvSpPr>
            <a:spLocks noChangeArrowheads="1"/>
          </p:cNvSpPr>
          <p:nvPr/>
        </p:nvSpPr>
        <p:spPr bwMode="auto">
          <a:xfrm>
            <a:off x="838200" y="2362200"/>
            <a:ext cx="8305800" cy="2590800"/>
          </a:xfrm>
          <a:prstGeom prst="wedgeEllipseCallout">
            <a:avLst>
              <a:gd name="adj1" fmla="val 7741"/>
              <a:gd name="adj2" fmla="val 58394"/>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The relation is at least in 1NF. </a:t>
            </a:r>
          </a:p>
          <a:p>
            <a:pPr algn="ctr" eaLnBrk="1" hangingPunct="1"/>
            <a:r>
              <a:rPr lang="en-US" sz="1800" b="1" dirty="0">
                <a:solidFill>
                  <a:schemeClr val="tx2"/>
                </a:solidFill>
              </a:rPr>
              <a:t>There is a COMPOSITE Primary Key (PK) (</a:t>
            </a:r>
            <a:r>
              <a:rPr lang="en-US" sz="1800" b="1" u="sng" dirty="0">
                <a:solidFill>
                  <a:schemeClr val="tx2"/>
                </a:solidFill>
              </a:rPr>
              <a:t>Order_No, Product_ID</a:t>
            </a:r>
            <a:r>
              <a:rPr lang="en-US" sz="1800" b="1" dirty="0">
                <a:solidFill>
                  <a:schemeClr val="tx2"/>
                </a:solidFill>
              </a:rPr>
              <a:t>), therefore there can be partial dependencies.   Product_ID, which is a part of PK, determines Description; hence, there is a partial dependency.   Therefore, the relation is not 2NF.   No sense to check for transitive dependencies!</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70"/>
                                        </p:tgtEl>
                                        <p:attrNameLst>
                                          <p:attrName>style.visibility</p:attrName>
                                        </p:attrNameLst>
                                      </p:cBhvr>
                                      <p:to>
                                        <p:strVal val="visible"/>
                                      </p:to>
                                    </p:set>
                                    <p:anim calcmode="lin" valueType="num">
                                      <p:cBhvr additive="base">
                                        <p:cTn id="7" dur="500" fill="hold"/>
                                        <p:tgtEl>
                                          <p:spTgt spid="245770"/>
                                        </p:tgtEl>
                                        <p:attrNameLst>
                                          <p:attrName>ppt_x</p:attrName>
                                        </p:attrNameLst>
                                      </p:cBhvr>
                                      <p:tavLst>
                                        <p:tav tm="0">
                                          <p:val>
                                            <p:strVal val="0-#ppt_w/2"/>
                                          </p:val>
                                        </p:tav>
                                        <p:tav tm="100000">
                                          <p:val>
                                            <p:strVal val="#ppt_x"/>
                                          </p:val>
                                        </p:tav>
                                      </p:tavLst>
                                    </p:anim>
                                    <p:anim calcmode="lin" valueType="num">
                                      <p:cBhvr additive="base">
                                        <p:cTn id="8" dur="500" fill="hold"/>
                                        <p:tgtEl>
                                          <p:spTgt spid="24577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577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70"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descr="Rectangle: Click to edit Master text styles&#10;Second level&#10;Third level&#10;Fourth level&#10;Fifth level"/>
          <p:cNvSpPr>
            <a:spLocks noGrp="1" noChangeArrowheads="1"/>
          </p:cNvSpPr>
          <p:nvPr>
            <p:ph type="body" idx="1"/>
          </p:nvPr>
        </p:nvSpPr>
        <p:spPr>
          <a:noFill/>
        </p:spPr>
        <p:txBody>
          <a:bodyPr lIns="91440" tIns="45720" rIns="91440" bIns="45720"/>
          <a:lstStyle/>
          <a:p>
            <a:r>
              <a:rPr lang="en-US" sz="2800" dirty="0"/>
              <a:t>Product_ID </a:t>
            </a:r>
            <a:r>
              <a:rPr lang="en-US" sz="2800" dirty="0">
                <a:sym typeface="Wingdings" pitchFamily="2" charset="2"/>
              </a:rPr>
              <a:t> Description</a:t>
            </a:r>
          </a:p>
        </p:txBody>
      </p:sp>
      <p:sp>
        <p:nvSpPr>
          <p:cNvPr id="12292" name="Rectangle 3"/>
          <p:cNvSpPr>
            <a:spLocks noGrp="1" noChangeArrowheads="1"/>
          </p:cNvSpPr>
          <p:nvPr>
            <p:ph type="title"/>
          </p:nvPr>
        </p:nvSpPr>
        <p:spPr/>
        <p:txBody>
          <a:bodyPr/>
          <a:lstStyle/>
          <a:p>
            <a:r>
              <a:rPr lang="en-US" dirty="0"/>
              <a:t>Example 2: Determine NF</a:t>
            </a:r>
          </a:p>
        </p:txBody>
      </p:sp>
      <p:grpSp>
        <p:nvGrpSpPr>
          <p:cNvPr id="2" name="Group 4"/>
          <p:cNvGrpSpPr>
            <a:grpSpLocks/>
          </p:cNvGrpSpPr>
          <p:nvPr/>
        </p:nvGrpSpPr>
        <p:grpSpPr bwMode="auto">
          <a:xfrm>
            <a:off x="914400" y="3886200"/>
            <a:ext cx="6400800" cy="1360488"/>
            <a:chOff x="576" y="2304"/>
            <a:chExt cx="4032" cy="857"/>
          </a:xfrm>
        </p:grpSpPr>
        <p:graphicFrame>
          <p:nvGraphicFramePr>
            <p:cNvPr id="12290" name="Object 5"/>
            <p:cNvGraphicFramePr>
              <a:graphicFrameLocks noChangeAspect="1"/>
            </p:cNvGraphicFramePr>
            <p:nvPr/>
          </p:nvGraphicFramePr>
          <p:xfrm>
            <a:off x="576" y="2304"/>
            <a:ext cx="4032" cy="857"/>
          </p:xfrm>
          <a:graphic>
            <a:graphicData uri="http://schemas.openxmlformats.org/presentationml/2006/ole">
              <mc:AlternateContent xmlns:mc="http://schemas.openxmlformats.org/markup-compatibility/2006">
                <mc:Choice xmlns:v="urn:schemas-microsoft-com:vml" Requires="v">
                  <p:oleObj name="Worksheet" r:id="rId2" imgW="2857680" imgH="607680" progId="Excel.Sheet.8">
                    <p:embed/>
                  </p:oleObj>
                </mc:Choice>
                <mc:Fallback>
                  <p:oleObj name="Worksheet" r:id="rId2" imgW="2857680" imgH="607680"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2304"/>
                          <a:ext cx="4032" cy="857"/>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2880" y="2688"/>
              <a:ext cx="816" cy="144"/>
              <a:chOff x="1200" y="2448"/>
              <a:chExt cx="816" cy="144"/>
            </a:xfrm>
          </p:grpSpPr>
          <p:sp>
            <p:nvSpPr>
              <p:cNvPr id="12296"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2297"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2298"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6794" name="AutoShape 10"/>
          <p:cNvSpPr>
            <a:spLocks noChangeArrowheads="1"/>
          </p:cNvSpPr>
          <p:nvPr/>
        </p:nvSpPr>
        <p:spPr bwMode="auto">
          <a:xfrm>
            <a:off x="2819400" y="2362200"/>
            <a:ext cx="5791200" cy="1676400"/>
          </a:xfrm>
          <a:prstGeom prst="wedgeEllipseCallout">
            <a:avLst>
              <a:gd name="adj1" fmla="val -33222"/>
              <a:gd name="adj2" fmla="val 7433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We know that the relation is at least in 1NF, and it is not in 2 NF. Therefore, we conclude that the relation is in 1 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794"/>
                                        </p:tgtEl>
                                        <p:attrNameLst>
                                          <p:attrName>style.visibility</p:attrName>
                                        </p:attrNameLst>
                                      </p:cBhvr>
                                      <p:to>
                                        <p:strVal val="visible"/>
                                      </p:to>
                                    </p:set>
                                    <p:anim calcmode="lin" valueType="num">
                                      <p:cBhvr additive="base">
                                        <p:cTn id="7" dur="500" fill="hold"/>
                                        <p:tgtEl>
                                          <p:spTgt spid="246794"/>
                                        </p:tgtEl>
                                        <p:attrNameLst>
                                          <p:attrName>ppt_x</p:attrName>
                                        </p:attrNameLst>
                                      </p:cBhvr>
                                      <p:tavLst>
                                        <p:tav tm="0">
                                          <p:val>
                                            <p:strVal val="0-#ppt_w/2"/>
                                          </p:val>
                                        </p:tav>
                                        <p:tav tm="100000">
                                          <p:val>
                                            <p:strVal val="#ppt_x"/>
                                          </p:val>
                                        </p:tav>
                                      </p:tavLst>
                                    </p:anim>
                                    <p:anim calcmode="lin" valueType="num">
                                      <p:cBhvr additive="base">
                                        <p:cTn id="8" dur="500" fill="hold"/>
                                        <p:tgtEl>
                                          <p:spTgt spid="24679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679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94"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Rectangle 2" descr="Rectangle: Click to edit Master text styles&#10;Second level&#10;Third level&#10;Fourth level&#10;Fifth level"/>
          <p:cNvSpPr>
            <a:spLocks noGrp="1" noChangeArrowheads="1"/>
          </p:cNvSpPr>
          <p:nvPr>
            <p:ph type="body" idx="1"/>
          </p:nvPr>
        </p:nvSpPr>
        <p:spPr>
          <a:xfrm>
            <a:off x="304800" y="1752600"/>
            <a:ext cx="4343400" cy="685800"/>
          </a:xfrm>
          <a:noFill/>
        </p:spPr>
        <p:txBody>
          <a:bodyPr lIns="91440" tIns="45720" rIns="91440" bIns="45720"/>
          <a:lstStyle/>
          <a:p>
            <a:r>
              <a:rPr lang="en-US" sz="2800" dirty="0"/>
              <a:t>Product_ID </a:t>
            </a:r>
            <a:r>
              <a:rPr lang="en-US" sz="2800" dirty="0">
                <a:sym typeface="Wingdings" pitchFamily="2" charset="2"/>
              </a:rPr>
              <a:t> Description</a:t>
            </a:r>
          </a:p>
        </p:txBody>
      </p:sp>
      <p:sp>
        <p:nvSpPr>
          <p:cNvPr id="13316" name="Rectangle 3"/>
          <p:cNvSpPr>
            <a:spLocks noGrp="1" noChangeArrowheads="1"/>
          </p:cNvSpPr>
          <p:nvPr>
            <p:ph type="title"/>
          </p:nvPr>
        </p:nvSpPr>
        <p:spPr/>
        <p:txBody>
          <a:bodyPr/>
          <a:lstStyle/>
          <a:p>
            <a:r>
              <a:rPr lang="en-US" dirty="0"/>
              <a:t>Example 2: Determine NF</a:t>
            </a:r>
          </a:p>
        </p:txBody>
      </p:sp>
      <p:grpSp>
        <p:nvGrpSpPr>
          <p:cNvPr id="2" name="Group 4"/>
          <p:cNvGrpSpPr>
            <a:grpSpLocks/>
          </p:cNvGrpSpPr>
          <p:nvPr/>
        </p:nvGrpSpPr>
        <p:grpSpPr bwMode="auto">
          <a:xfrm>
            <a:off x="1143000" y="4648200"/>
            <a:ext cx="6400800" cy="1360488"/>
            <a:chOff x="576" y="2304"/>
            <a:chExt cx="4032" cy="857"/>
          </a:xfrm>
        </p:grpSpPr>
        <p:graphicFrame>
          <p:nvGraphicFramePr>
            <p:cNvPr id="13314" name="Object 5"/>
            <p:cNvGraphicFramePr>
              <a:graphicFrameLocks noChangeAspect="1"/>
            </p:cNvGraphicFramePr>
            <p:nvPr/>
          </p:nvGraphicFramePr>
          <p:xfrm>
            <a:off x="576" y="2304"/>
            <a:ext cx="4032" cy="857"/>
          </p:xfrm>
          <a:graphic>
            <a:graphicData uri="http://schemas.openxmlformats.org/presentationml/2006/ole">
              <mc:AlternateContent xmlns:mc="http://schemas.openxmlformats.org/markup-compatibility/2006">
                <mc:Choice xmlns:v="urn:schemas-microsoft-com:vml" Requires="v">
                  <p:oleObj name="Worksheet" r:id="rId2" imgW="2857680" imgH="607680" progId="Excel.Sheet.8">
                    <p:embed/>
                  </p:oleObj>
                </mc:Choice>
                <mc:Fallback>
                  <p:oleObj name="Worksheet" r:id="rId2" imgW="2857680" imgH="607680"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2304"/>
                          <a:ext cx="4032" cy="857"/>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2880" y="2688"/>
              <a:ext cx="816" cy="144"/>
              <a:chOff x="1200" y="2448"/>
              <a:chExt cx="816" cy="144"/>
            </a:xfrm>
          </p:grpSpPr>
          <p:sp>
            <p:nvSpPr>
              <p:cNvPr id="13320"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3321"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3322"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47818" name="AutoShape 10"/>
          <p:cNvSpPr>
            <a:spLocks noChangeArrowheads="1"/>
          </p:cNvSpPr>
          <p:nvPr/>
        </p:nvSpPr>
        <p:spPr bwMode="auto">
          <a:xfrm>
            <a:off x="1905000" y="2209800"/>
            <a:ext cx="6781800" cy="2819400"/>
          </a:xfrm>
          <a:prstGeom prst="wedgeEllipseCallout">
            <a:avLst>
              <a:gd name="adj1" fmla="val -36306"/>
              <a:gd name="adj2" fmla="val 53491"/>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r>
              <a:rPr lang="en-US" sz="1800" b="1" dirty="0">
                <a:solidFill>
                  <a:schemeClr val="tx2"/>
                </a:solidFill>
              </a:rPr>
              <a:t>1) No M/V attributes, therefore at least 1NF</a:t>
            </a:r>
          </a:p>
          <a:p>
            <a:pPr marL="457200" indent="-457200" algn="ctr" eaLnBrk="1" hangingPunct="1"/>
            <a:r>
              <a:rPr lang="en-US" sz="1800" b="1" dirty="0">
                <a:solidFill>
                  <a:schemeClr val="tx2"/>
                </a:solidFill>
              </a:rPr>
              <a:t>2) There is a partial dependency (Product_ID </a:t>
            </a:r>
            <a:r>
              <a:rPr lang="en-US" sz="1800" b="1" dirty="0">
                <a:solidFill>
                  <a:schemeClr val="tx2"/>
                </a:solidFill>
                <a:sym typeface="Wingdings" pitchFamily="2" charset="2"/>
              </a:rPr>
              <a:t> Description)</a:t>
            </a:r>
            <a:r>
              <a:rPr lang="en-US" sz="1800" b="1" dirty="0">
                <a:solidFill>
                  <a:schemeClr val="tx2"/>
                </a:solidFill>
              </a:rPr>
              <a:t>, therefore not in 2NF</a:t>
            </a:r>
          </a:p>
          <a:p>
            <a:pPr marL="457200" indent="-457200" algn="ctr" eaLnBrk="1" hangingPunct="1"/>
            <a:r>
              <a:rPr lang="en-US" sz="1800" b="1" dirty="0">
                <a:solidFill>
                  <a:schemeClr val="tx2"/>
                </a:solidFill>
              </a:rPr>
              <a:t>Conclusion: The relation is in 1NF</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8"/>
                                        </p:tgtEl>
                                        <p:attrNameLst>
                                          <p:attrName>style.visibility</p:attrName>
                                        </p:attrNameLst>
                                      </p:cBhvr>
                                      <p:to>
                                        <p:strVal val="visible"/>
                                      </p:to>
                                    </p:set>
                                    <p:anim calcmode="lin" valueType="num">
                                      <p:cBhvr additive="base">
                                        <p:cTn id="7" dur="500" fill="hold"/>
                                        <p:tgtEl>
                                          <p:spTgt spid="247818"/>
                                        </p:tgtEl>
                                        <p:attrNameLst>
                                          <p:attrName>ppt_x</p:attrName>
                                        </p:attrNameLst>
                                      </p:cBhvr>
                                      <p:tavLst>
                                        <p:tav tm="0">
                                          <p:val>
                                            <p:strVal val="0-#ppt_w/2"/>
                                          </p:val>
                                        </p:tav>
                                        <p:tav tm="100000">
                                          <p:val>
                                            <p:strVal val="#ppt_x"/>
                                          </p:val>
                                        </p:tav>
                                      </p:tavLst>
                                    </p:anim>
                                    <p:anim calcmode="lin" valueType="num">
                                      <p:cBhvr additive="base">
                                        <p:cTn id="8" dur="500" fill="hold"/>
                                        <p:tgtEl>
                                          <p:spTgt spid="247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8"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4338" name="Object 2"/>
          <p:cNvGraphicFramePr>
            <a:graphicFrameLocks noChangeAspect="1"/>
          </p:cNvGraphicFramePr>
          <p:nvPr/>
        </p:nvGraphicFramePr>
        <p:xfrm>
          <a:off x="685800" y="3810000"/>
          <a:ext cx="7467600" cy="1255713"/>
        </p:xfrm>
        <a:graphic>
          <a:graphicData uri="http://schemas.openxmlformats.org/presentationml/2006/ole">
            <mc:AlternateContent xmlns:mc="http://schemas.openxmlformats.org/markup-compatibility/2006">
              <mc:Choice xmlns:v="urn:schemas-microsoft-com:vml" Requires="v">
                <p:oleObj name="Worksheet" r:id="rId2" imgW="3611160" imgH="607680" progId="Excel.Sheet.8">
                  <p:embed/>
                </p:oleObj>
              </mc:Choice>
              <mc:Fallback>
                <p:oleObj name="Worksheet" r:id="rId2" imgW="3611160" imgH="607680" progId="Excel.Shee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810000"/>
                        <a:ext cx="7467600" cy="1255713"/>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sp>
        <p:nvSpPr>
          <p:cNvPr id="14339" name="Rectangle 3"/>
          <p:cNvSpPr>
            <a:spLocks noGrp="1" noChangeArrowheads="1"/>
          </p:cNvSpPr>
          <p:nvPr>
            <p:ph type="title"/>
          </p:nvPr>
        </p:nvSpPr>
        <p:spPr/>
        <p:txBody>
          <a:bodyPr/>
          <a:lstStyle/>
          <a:p>
            <a:r>
              <a:rPr lang="en-US" dirty="0"/>
              <a:t>Example 3: Determine NF</a:t>
            </a:r>
          </a:p>
        </p:txBody>
      </p:sp>
      <p:sp>
        <p:nvSpPr>
          <p:cNvPr id="14340" name="Rectangle 4"/>
          <p:cNvSpPr>
            <a:spLocks noGrp="1" noChangeArrowheads="1"/>
          </p:cNvSpPr>
          <p:nvPr>
            <p:ph type="body" idx="1"/>
          </p:nvPr>
        </p:nvSpPr>
        <p:spPr>
          <a:xfrm>
            <a:off x="457200" y="1676400"/>
            <a:ext cx="7696200" cy="1143000"/>
          </a:xfrm>
        </p:spPr>
        <p:txBody>
          <a:bodyPr>
            <a:normAutofit lnSpcReduction="10000"/>
          </a:bodyPr>
          <a:lstStyle/>
          <a:p>
            <a:pPr>
              <a:lnSpc>
                <a:spcPct val="90000"/>
              </a:lnSpc>
            </a:pPr>
            <a:r>
              <a:rPr lang="en-US" sz="2400" dirty="0"/>
              <a:t>Part_ID </a:t>
            </a:r>
            <a:r>
              <a:rPr lang="en-US" sz="2400" dirty="0">
                <a:sym typeface="Wingdings" pitchFamily="2" charset="2"/>
              </a:rPr>
              <a:t> Description</a:t>
            </a:r>
          </a:p>
          <a:p>
            <a:pPr>
              <a:lnSpc>
                <a:spcPct val="90000"/>
              </a:lnSpc>
            </a:pPr>
            <a:r>
              <a:rPr lang="en-US" sz="2400" dirty="0">
                <a:sym typeface="Wingdings" pitchFamily="2" charset="2"/>
              </a:rPr>
              <a:t>Part_ID  Price</a:t>
            </a:r>
          </a:p>
          <a:p>
            <a:pPr>
              <a:lnSpc>
                <a:spcPct val="90000"/>
              </a:lnSpc>
            </a:pPr>
            <a:r>
              <a:rPr lang="en-US" sz="2400" dirty="0"/>
              <a:t>Part_ID, Comp_ID </a:t>
            </a:r>
            <a:r>
              <a:rPr lang="en-US" sz="2400" dirty="0">
                <a:sym typeface="Wingdings" pitchFamily="2" charset="2"/>
              </a:rPr>
              <a:t> No</a:t>
            </a:r>
            <a:endParaRPr lang="en-US" sz="2400" dirty="0"/>
          </a:p>
        </p:txBody>
      </p:sp>
      <p:grpSp>
        <p:nvGrpSpPr>
          <p:cNvPr id="2" name="Group 5"/>
          <p:cNvGrpSpPr>
            <a:grpSpLocks/>
          </p:cNvGrpSpPr>
          <p:nvPr/>
        </p:nvGrpSpPr>
        <p:grpSpPr bwMode="auto">
          <a:xfrm>
            <a:off x="1295400" y="4343400"/>
            <a:ext cx="1295400" cy="228600"/>
            <a:chOff x="1200" y="2448"/>
            <a:chExt cx="816" cy="144"/>
          </a:xfrm>
        </p:grpSpPr>
        <p:sp>
          <p:nvSpPr>
            <p:cNvPr id="14354"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55"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6"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3" name="Group 9"/>
          <p:cNvGrpSpPr>
            <a:grpSpLocks/>
          </p:cNvGrpSpPr>
          <p:nvPr/>
        </p:nvGrpSpPr>
        <p:grpSpPr bwMode="auto">
          <a:xfrm>
            <a:off x="1295400" y="4343400"/>
            <a:ext cx="3276600" cy="228600"/>
            <a:chOff x="1200" y="2448"/>
            <a:chExt cx="816" cy="144"/>
          </a:xfrm>
        </p:grpSpPr>
        <p:sp>
          <p:nvSpPr>
            <p:cNvPr id="14351"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52"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3"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48845" name="AutoShape 13"/>
          <p:cNvSpPr>
            <a:spLocks noChangeArrowheads="1"/>
          </p:cNvSpPr>
          <p:nvPr/>
        </p:nvSpPr>
        <p:spPr bwMode="auto">
          <a:xfrm>
            <a:off x="4343400" y="1524000"/>
            <a:ext cx="4419600" cy="2286000"/>
          </a:xfrm>
          <a:prstGeom prst="wedgeEllipseCallout">
            <a:avLst>
              <a:gd name="adj1" fmla="val -34806"/>
              <a:gd name="adj2" fmla="val 60347"/>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Comp_ID and No are not determined by the primary key; therefore, the relation is NOT in 1 NF.  No sense in looking at partial or transitive dependencies.</a:t>
            </a:r>
          </a:p>
        </p:txBody>
      </p:sp>
      <p:grpSp>
        <p:nvGrpSpPr>
          <p:cNvPr id="4" name="Group 14"/>
          <p:cNvGrpSpPr>
            <a:grpSpLocks/>
          </p:cNvGrpSpPr>
          <p:nvPr/>
        </p:nvGrpSpPr>
        <p:grpSpPr bwMode="auto">
          <a:xfrm>
            <a:off x="1524000" y="4267200"/>
            <a:ext cx="5715000" cy="381000"/>
            <a:chOff x="960" y="2640"/>
            <a:chExt cx="3600" cy="240"/>
          </a:xfrm>
        </p:grpSpPr>
        <p:grpSp>
          <p:nvGrpSpPr>
            <p:cNvPr id="5" name="Group 15"/>
            <p:cNvGrpSpPr>
              <a:grpSpLocks/>
            </p:cNvGrpSpPr>
            <p:nvPr/>
          </p:nvGrpSpPr>
          <p:grpSpPr bwMode="auto">
            <a:xfrm>
              <a:off x="960" y="2640"/>
              <a:ext cx="3600" cy="240"/>
              <a:chOff x="1200" y="2448"/>
              <a:chExt cx="816" cy="144"/>
            </a:xfrm>
          </p:grpSpPr>
          <p:sp>
            <p:nvSpPr>
              <p:cNvPr id="14348" name="Line 1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4349" name="Line 1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4350" name="Line 1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4347" name="Line 19"/>
            <p:cNvSpPr>
              <a:spLocks noChangeShapeType="1"/>
            </p:cNvSpPr>
            <p:nvPr/>
          </p:nvSpPr>
          <p:spPr bwMode="auto">
            <a:xfrm flipV="1">
              <a:off x="3744" y="2640"/>
              <a:ext cx="0" cy="240"/>
            </a:xfrm>
            <a:prstGeom prst="line">
              <a:avLst/>
            </a:prstGeom>
            <a:noFill/>
            <a:ln w="28575">
              <a:solidFill>
                <a:schemeClr val="tx1"/>
              </a:solidFill>
              <a:round/>
              <a:headEnd/>
              <a:tailEnd/>
            </a:ln>
          </p:spPr>
          <p:txBody>
            <a:bodyPr anchor="b"/>
            <a:lstStyle/>
            <a:p>
              <a:endParaRPr lang="en-US" dirty="0"/>
            </a:p>
          </p:txBody>
        </p:sp>
      </p:grpSp>
      <p:sp>
        <p:nvSpPr>
          <p:cNvPr id="248852" name="Oval 20"/>
          <p:cNvSpPr>
            <a:spLocks noChangeArrowheads="1"/>
          </p:cNvSpPr>
          <p:nvPr/>
        </p:nvSpPr>
        <p:spPr bwMode="auto">
          <a:xfrm>
            <a:off x="4876800" y="3962400"/>
            <a:ext cx="3733800" cy="1676400"/>
          </a:xfrm>
          <a:prstGeom prst="ellipse">
            <a:avLst/>
          </a:prstGeom>
          <a:noFill/>
          <a:ln w="28575">
            <a:solidFill>
              <a:schemeClr val="tx2"/>
            </a:solidFill>
            <a:round/>
            <a:headEnd/>
            <a:tailEnd/>
          </a:ln>
        </p:spPr>
        <p:txBody>
          <a:bodyPr wrap="none" anchor="ctr"/>
          <a:lstStyle/>
          <a:p>
            <a:endParaRPr lang="en-US"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8852"/>
                                        </p:tgtEl>
                                        <p:attrNameLst>
                                          <p:attrName>style.visibility</p:attrName>
                                        </p:attrNameLst>
                                      </p:cBhvr>
                                      <p:to>
                                        <p:strVal val="visible"/>
                                      </p:to>
                                    </p:set>
                                    <p:anim calcmode="lin" valueType="num">
                                      <p:cBhvr additive="base">
                                        <p:cTn id="25" dur="500" fill="hold"/>
                                        <p:tgtEl>
                                          <p:spTgt spid="248852"/>
                                        </p:tgtEl>
                                        <p:attrNameLst>
                                          <p:attrName>ppt_x</p:attrName>
                                        </p:attrNameLst>
                                      </p:cBhvr>
                                      <p:tavLst>
                                        <p:tav tm="0">
                                          <p:val>
                                            <p:strVal val="0-#ppt_w/2"/>
                                          </p:val>
                                        </p:tav>
                                        <p:tav tm="100000">
                                          <p:val>
                                            <p:strVal val="#ppt_x"/>
                                          </p:val>
                                        </p:tav>
                                      </p:tavLst>
                                    </p:anim>
                                    <p:anim calcmode="lin" valueType="num">
                                      <p:cBhvr additive="base">
                                        <p:cTn id="26" dur="500" fill="hold"/>
                                        <p:tgtEl>
                                          <p:spTgt spid="24885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8845"/>
                                        </p:tgtEl>
                                        <p:attrNameLst>
                                          <p:attrName>style.visibility</p:attrName>
                                        </p:attrNameLst>
                                      </p:cBhvr>
                                      <p:to>
                                        <p:strVal val="visible"/>
                                      </p:to>
                                    </p:set>
                                    <p:anim calcmode="lin" valueType="num">
                                      <p:cBhvr additive="base">
                                        <p:cTn id="31" dur="500" fill="hold"/>
                                        <p:tgtEl>
                                          <p:spTgt spid="248845"/>
                                        </p:tgtEl>
                                        <p:attrNameLst>
                                          <p:attrName>ppt_x</p:attrName>
                                        </p:attrNameLst>
                                      </p:cBhvr>
                                      <p:tavLst>
                                        <p:tav tm="0">
                                          <p:val>
                                            <p:strVal val="0-#ppt_w/2"/>
                                          </p:val>
                                        </p:tav>
                                        <p:tav tm="100000">
                                          <p:val>
                                            <p:strVal val="#ppt_x"/>
                                          </p:val>
                                        </p:tav>
                                      </p:tavLst>
                                    </p:anim>
                                    <p:anim calcmode="lin" valueType="num">
                                      <p:cBhvr additive="base">
                                        <p:cTn id="32" dur="500" fill="hold"/>
                                        <p:tgtEl>
                                          <p:spTgt spid="24884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84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45" grpId="0" animBg="1" autoUpdateAnimBg="0"/>
      <p:bldP spid="248852"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US" dirty="0"/>
              <a:t>Example 3: Determine NF</a:t>
            </a:r>
          </a:p>
        </p:txBody>
      </p:sp>
      <p:sp>
        <p:nvSpPr>
          <p:cNvPr id="15364" name="Rectangle 3"/>
          <p:cNvSpPr>
            <a:spLocks noGrp="1" noChangeArrowheads="1"/>
          </p:cNvSpPr>
          <p:nvPr>
            <p:ph type="body" idx="1"/>
          </p:nvPr>
        </p:nvSpPr>
        <p:spPr>
          <a:xfrm>
            <a:off x="685800" y="1858963"/>
            <a:ext cx="8154988" cy="1260475"/>
          </a:xfrm>
        </p:spPr>
        <p:txBody>
          <a:bodyPr/>
          <a:lstStyle/>
          <a:p>
            <a:pPr>
              <a:lnSpc>
                <a:spcPct val="90000"/>
              </a:lnSpc>
            </a:pPr>
            <a:r>
              <a:rPr lang="en-US" sz="2400" dirty="0"/>
              <a:t>Part_ID </a:t>
            </a:r>
            <a:r>
              <a:rPr lang="en-US" sz="2400" dirty="0">
                <a:sym typeface="Wingdings" pitchFamily="2" charset="2"/>
              </a:rPr>
              <a:t> Description</a:t>
            </a:r>
          </a:p>
          <a:p>
            <a:pPr>
              <a:lnSpc>
                <a:spcPct val="90000"/>
              </a:lnSpc>
            </a:pPr>
            <a:r>
              <a:rPr lang="en-US" sz="2400" dirty="0">
                <a:sym typeface="Wingdings" pitchFamily="2" charset="2"/>
              </a:rPr>
              <a:t>Part_ID  Price</a:t>
            </a:r>
          </a:p>
          <a:p>
            <a:pPr>
              <a:lnSpc>
                <a:spcPct val="90000"/>
              </a:lnSpc>
            </a:pPr>
            <a:r>
              <a:rPr lang="en-US" sz="2400" dirty="0"/>
              <a:t>Part_ID, Comp_ID </a:t>
            </a:r>
            <a:r>
              <a:rPr lang="en-US" sz="2400" dirty="0">
                <a:sym typeface="Wingdings" pitchFamily="2" charset="2"/>
              </a:rPr>
              <a:t> No</a:t>
            </a:r>
            <a:endParaRPr lang="en-US" sz="2400" dirty="0"/>
          </a:p>
        </p:txBody>
      </p:sp>
      <p:grpSp>
        <p:nvGrpSpPr>
          <p:cNvPr id="2" name="Group 5"/>
          <p:cNvGrpSpPr>
            <a:grpSpLocks/>
          </p:cNvGrpSpPr>
          <p:nvPr/>
        </p:nvGrpSpPr>
        <p:grpSpPr bwMode="auto">
          <a:xfrm>
            <a:off x="685800" y="3810000"/>
            <a:ext cx="7924800" cy="1828800"/>
            <a:chOff x="432" y="2400"/>
            <a:chExt cx="4992" cy="1152"/>
          </a:xfrm>
        </p:grpSpPr>
        <p:graphicFrame>
          <p:nvGraphicFramePr>
            <p:cNvPr id="15362" name="Object 6"/>
            <p:cNvGraphicFramePr>
              <a:graphicFrameLocks noChangeAspect="1"/>
            </p:cNvGraphicFramePr>
            <p:nvPr/>
          </p:nvGraphicFramePr>
          <p:xfrm>
            <a:off x="432" y="2400"/>
            <a:ext cx="4704" cy="791"/>
          </p:xfrm>
          <a:graphic>
            <a:graphicData uri="http://schemas.openxmlformats.org/presentationml/2006/ole">
              <mc:AlternateContent xmlns:mc="http://schemas.openxmlformats.org/markup-compatibility/2006">
                <mc:Choice xmlns:v="urn:schemas-microsoft-com:vml" Requires="v">
                  <p:oleObj name="Worksheet" r:id="rId2" imgW="3611160" imgH="607680" progId="Excel.Sheet.8">
                    <p:embed/>
                  </p:oleObj>
                </mc:Choice>
                <mc:Fallback>
                  <p:oleObj name="Worksheet" r:id="rId2" imgW="3611160" imgH="607680" progId="Excel.Shee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 y="2400"/>
                          <a:ext cx="4704" cy="791"/>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7"/>
            <p:cNvGrpSpPr>
              <a:grpSpLocks/>
            </p:cNvGrpSpPr>
            <p:nvPr/>
          </p:nvGrpSpPr>
          <p:grpSpPr bwMode="auto">
            <a:xfrm>
              <a:off x="816" y="2736"/>
              <a:ext cx="816" cy="144"/>
              <a:chOff x="1200" y="2448"/>
              <a:chExt cx="816" cy="144"/>
            </a:xfrm>
          </p:grpSpPr>
          <p:sp>
            <p:nvSpPr>
              <p:cNvPr id="15379" name="Line 8"/>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80" name="Line 9"/>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81" name="Line 10"/>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4" name="Group 11"/>
            <p:cNvGrpSpPr>
              <a:grpSpLocks/>
            </p:cNvGrpSpPr>
            <p:nvPr/>
          </p:nvGrpSpPr>
          <p:grpSpPr bwMode="auto">
            <a:xfrm>
              <a:off x="816" y="2736"/>
              <a:ext cx="2064" cy="144"/>
              <a:chOff x="1200" y="2448"/>
              <a:chExt cx="816" cy="144"/>
            </a:xfrm>
          </p:grpSpPr>
          <p:sp>
            <p:nvSpPr>
              <p:cNvPr id="15376"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77"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78"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5"/>
            <p:cNvGrpSpPr>
              <a:grpSpLocks/>
            </p:cNvGrpSpPr>
            <p:nvPr/>
          </p:nvGrpSpPr>
          <p:grpSpPr bwMode="auto">
            <a:xfrm>
              <a:off x="960" y="2688"/>
              <a:ext cx="3600" cy="240"/>
              <a:chOff x="960" y="2640"/>
              <a:chExt cx="3600" cy="240"/>
            </a:xfrm>
          </p:grpSpPr>
          <p:grpSp>
            <p:nvGrpSpPr>
              <p:cNvPr id="6" name="Group 16"/>
              <p:cNvGrpSpPr>
                <a:grpSpLocks/>
              </p:cNvGrpSpPr>
              <p:nvPr/>
            </p:nvGrpSpPr>
            <p:grpSpPr bwMode="auto">
              <a:xfrm>
                <a:off x="960" y="2640"/>
                <a:ext cx="3600" cy="240"/>
                <a:chOff x="1200" y="2448"/>
                <a:chExt cx="816" cy="144"/>
              </a:xfrm>
            </p:grpSpPr>
            <p:sp>
              <p:nvSpPr>
                <p:cNvPr id="15373" name="Line 1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5374" name="Line 1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5375" name="Line 1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5372" name="Line 20"/>
              <p:cNvSpPr>
                <a:spLocks noChangeShapeType="1"/>
              </p:cNvSpPr>
              <p:nvPr/>
            </p:nvSpPr>
            <p:spPr bwMode="auto">
              <a:xfrm flipV="1">
                <a:off x="3744" y="2640"/>
                <a:ext cx="0" cy="240"/>
              </a:xfrm>
              <a:prstGeom prst="line">
                <a:avLst/>
              </a:prstGeom>
              <a:noFill/>
              <a:ln w="28575">
                <a:solidFill>
                  <a:schemeClr val="tx1"/>
                </a:solidFill>
                <a:round/>
                <a:headEnd/>
                <a:tailEnd/>
              </a:ln>
            </p:spPr>
            <p:txBody>
              <a:bodyPr anchor="b"/>
              <a:lstStyle/>
              <a:p>
                <a:endParaRPr lang="en-US" dirty="0"/>
              </a:p>
            </p:txBody>
          </p:sp>
        </p:grpSp>
        <p:sp>
          <p:nvSpPr>
            <p:cNvPr id="15370" name="Oval 21"/>
            <p:cNvSpPr>
              <a:spLocks noChangeArrowheads="1"/>
            </p:cNvSpPr>
            <p:nvPr/>
          </p:nvSpPr>
          <p:spPr bwMode="auto">
            <a:xfrm>
              <a:off x="3072" y="2496"/>
              <a:ext cx="2352" cy="1056"/>
            </a:xfrm>
            <a:prstGeom prst="ellipse">
              <a:avLst/>
            </a:prstGeom>
            <a:noFill/>
            <a:ln w="28575">
              <a:solidFill>
                <a:schemeClr val="tx2"/>
              </a:solidFill>
              <a:round/>
              <a:headEnd/>
              <a:tailEnd/>
            </a:ln>
          </p:spPr>
          <p:txBody>
            <a:bodyPr wrap="none" anchor="ctr"/>
            <a:lstStyle/>
            <a:p>
              <a:endParaRPr lang="en-US" dirty="0"/>
            </a:p>
          </p:txBody>
        </p:sp>
      </p:grpSp>
      <p:sp>
        <p:nvSpPr>
          <p:cNvPr id="249860" name="AutoShape 4"/>
          <p:cNvSpPr>
            <a:spLocks noChangeArrowheads="1"/>
          </p:cNvSpPr>
          <p:nvPr/>
        </p:nvSpPr>
        <p:spPr bwMode="auto">
          <a:xfrm>
            <a:off x="3733800" y="1295400"/>
            <a:ext cx="5181600" cy="2438400"/>
          </a:xfrm>
          <a:prstGeom prst="wedgeEllipseCallout">
            <a:avLst>
              <a:gd name="adj1" fmla="val -25093"/>
              <a:gd name="adj2" fmla="val 56380"/>
            </a:avLst>
          </a:prstGeom>
          <a:solidFill>
            <a:schemeClr val="bg2"/>
          </a:solidFill>
          <a:ln w="12700">
            <a:solidFill>
              <a:schemeClr val="tx2"/>
            </a:solidFill>
            <a:miter lim="800000"/>
            <a:headEnd/>
            <a:tailEnd/>
          </a:ln>
        </p:spPr>
        <p:txBody>
          <a:bodyPr anchor="b"/>
          <a:lstStyle/>
          <a:p>
            <a:pPr marL="457200" indent="-457200" algn="ctr" eaLnBrk="1" hangingPunct="1"/>
            <a:r>
              <a:rPr lang="en-US" sz="1800" b="1" dirty="0">
                <a:solidFill>
                  <a:schemeClr val="tx2"/>
                </a:solidFill>
              </a:rPr>
              <a:t>In your solution you will write the following justification:</a:t>
            </a:r>
          </a:p>
          <a:p>
            <a:pPr marL="457200" indent="-457200" algn="ctr" eaLnBrk="1" hangingPunct="1">
              <a:buFontTx/>
              <a:buAutoNum type="arabicParenR"/>
            </a:pPr>
            <a:r>
              <a:rPr lang="en-US" sz="1800" b="1" dirty="0">
                <a:solidFill>
                  <a:schemeClr val="tx2"/>
                </a:solidFill>
              </a:rPr>
              <a:t>There are M/V attributes; therefore, not 1NF</a:t>
            </a:r>
          </a:p>
          <a:p>
            <a:pPr marL="457200" indent="-457200" algn="ctr" eaLnBrk="1" hangingPunct="1"/>
            <a:r>
              <a:rPr lang="en-US" sz="1800" b="1" dirty="0">
                <a:solidFill>
                  <a:schemeClr val="tx2"/>
                </a:solidFill>
              </a:rPr>
              <a:t>Conclusion: The relation is not normalized.</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9860"/>
                                        </p:tgtEl>
                                        <p:attrNameLst>
                                          <p:attrName>style.visibility</p:attrName>
                                        </p:attrNameLst>
                                      </p:cBhvr>
                                      <p:to>
                                        <p:strVal val="visible"/>
                                      </p:to>
                                    </p:set>
                                    <p:anim calcmode="lin" valueType="num">
                                      <p:cBhvr additive="base">
                                        <p:cTn id="7" dur="500" fill="hold"/>
                                        <p:tgtEl>
                                          <p:spTgt spid="249860"/>
                                        </p:tgtEl>
                                        <p:attrNameLst>
                                          <p:attrName>ppt_x</p:attrName>
                                        </p:attrNameLst>
                                      </p:cBhvr>
                                      <p:tavLst>
                                        <p:tav tm="0">
                                          <p:val>
                                            <p:strVal val="0-#ppt_w/2"/>
                                          </p:val>
                                        </p:tav>
                                        <p:tav tm="100000">
                                          <p:val>
                                            <p:strVal val="#ppt_x"/>
                                          </p:val>
                                        </p:tav>
                                      </p:tavLst>
                                    </p:anim>
                                    <p:anim calcmode="lin" valueType="num">
                                      <p:cBhvr additive="base">
                                        <p:cTn id="8" dur="500" fill="hold"/>
                                        <p:tgtEl>
                                          <p:spTgt spid="2498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628650" y="195263"/>
            <a:ext cx="7772400" cy="1219200"/>
          </a:xfrm>
        </p:spPr>
        <p:txBody>
          <a:bodyPr/>
          <a:lstStyle/>
          <a:p>
            <a:r>
              <a:rPr lang="en-US" dirty="0"/>
              <a:t>Bringing a Relation to 1NF</a:t>
            </a:r>
          </a:p>
        </p:txBody>
      </p:sp>
      <p:graphicFrame>
        <p:nvGraphicFramePr>
          <p:cNvPr id="250883" name="Object 3"/>
          <p:cNvGraphicFramePr>
            <a:graphicFrameLocks noChangeAspect="1"/>
          </p:cNvGraphicFramePr>
          <p:nvPr/>
        </p:nvGraphicFramePr>
        <p:xfrm>
          <a:off x="1143000" y="2514600"/>
          <a:ext cx="6400800" cy="2393950"/>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14600"/>
                        <a:ext cx="6400800" cy="239395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4"/>
          <p:cNvGrpSpPr>
            <a:grpSpLocks/>
          </p:cNvGrpSpPr>
          <p:nvPr/>
        </p:nvGrpSpPr>
        <p:grpSpPr bwMode="auto">
          <a:xfrm>
            <a:off x="4814888" y="2967038"/>
            <a:ext cx="1600200" cy="228600"/>
            <a:chOff x="1200" y="2448"/>
            <a:chExt cx="816" cy="144"/>
          </a:xfrm>
        </p:grpSpPr>
        <p:sp>
          <p:nvSpPr>
            <p:cNvPr id="16394" name="Line 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6395" name="Line 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6396" name="Line 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50888" name="Oval 8"/>
          <p:cNvSpPr>
            <a:spLocks noChangeArrowheads="1"/>
          </p:cNvSpPr>
          <p:nvPr/>
        </p:nvSpPr>
        <p:spPr bwMode="auto">
          <a:xfrm>
            <a:off x="4014788" y="2700338"/>
            <a:ext cx="3890962" cy="1447800"/>
          </a:xfrm>
          <a:prstGeom prst="ellipse">
            <a:avLst/>
          </a:prstGeom>
          <a:noFill/>
          <a:ln w="28575">
            <a:solidFill>
              <a:schemeClr val="tx2"/>
            </a:solidFill>
            <a:round/>
            <a:headEnd/>
            <a:tailEnd/>
          </a:ln>
        </p:spPr>
        <p:txBody>
          <a:bodyPr wrap="none" anchor="ctr"/>
          <a:lstStyle/>
          <a:p>
            <a:endParaRPr lang="en-US" dirty="0"/>
          </a:p>
        </p:txBody>
      </p:sp>
      <p:grpSp>
        <p:nvGrpSpPr>
          <p:cNvPr id="3" name="Group 9"/>
          <p:cNvGrpSpPr>
            <a:grpSpLocks/>
          </p:cNvGrpSpPr>
          <p:nvPr/>
        </p:nvGrpSpPr>
        <p:grpSpPr bwMode="auto">
          <a:xfrm>
            <a:off x="1600200" y="2971800"/>
            <a:ext cx="1600200" cy="228600"/>
            <a:chOff x="1200" y="2448"/>
            <a:chExt cx="816" cy="144"/>
          </a:xfrm>
        </p:grpSpPr>
        <p:sp>
          <p:nvSpPr>
            <p:cNvPr id="16391"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6392"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6393"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0883"/>
                                        </p:tgtEl>
                                        <p:attrNameLst>
                                          <p:attrName>style.visibility</p:attrName>
                                        </p:attrNameLst>
                                      </p:cBhvr>
                                      <p:to>
                                        <p:strVal val="visible"/>
                                      </p:to>
                                    </p:set>
                                    <p:anim calcmode="lin" valueType="num">
                                      <p:cBhvr additive="base">
                                        <p:cTn id="7" dur="500" fill="hold"/>
                                        <p:tgtEl>
                                          <p:spTgt spid="250883"/>
                                        </p:tgtEl>
                                        <p:attrNameLst>
                                          <p:attrName>ppt_x</p:attrName>
                                        </p:attrNameLst>
                                      </p:cBhvr>
                                      <p:tavLst>
                                        <p:tav tm="0">
                                          <p:val>
                                            <p:strVal val="0-#ppt_w/2"/>
                                          </p:val>
                                        </p:tav>
                                        <p:tav tm="100000">
                                          <p:val>
                                            <p:strVal val="#ppt_x"/>
                                          </p:val>
                                        </p:tav>
                                      </p:tavLst>
                                    </p:anim>
                                    <p:anim calcmode="lin" valueType="num">
                                      <p:cBhvr additive="base">
                                        <p:cTn id="8" dur="500" fill="hold"/>
                                        <p:tgtEl>
                                          <p:spTgt spid="2508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8"/>
                                        </p:tgtEl>
                                        <p:attrNameLst>
                                          <p:attrName>style.visibility</p:attrName>
                                        </p:attrNameLst>
                                      </p:cBhvr>
                                      <p:to>
                                        <p:strVal val="visible"/>
                                      </p:to>
                                    </p:set>
                                    <p:anim calcmode="lin" valueType="num">
                                      <p:cBhvr additive="base">
                                        <p:cTn id="25" dur="500" fill="hold"/>
                                        <p:tgtEl>
                                          <p:spTgt spid="250888"/>
                                        </p:tgtEl>
                                        <p:attrNameLst>
                                          <p:attrName>ppt_x</p:attrName>
                                        </p:attrNameLst>
                                      </p:cBhvr>
                                      <p:tavLst>
                                        <p:tav tm="0">
                                          <p:val>
                                            <p:strVal val="0-#ppt_w/2"/>
                                          </p:val>
                                        </p:tav>
                                        <p:tav tm="100000">
                                          <p:val>
                                            <p:strVal val="#ppt_x"/>
                                          </p:val>
                                        </p:tav>
                                      </p:tavLst>
                                    </p:anim>
                                    <p:anim calcmode="lin" valueType="num">
                                      <p:cBhvr additive="base">
                                        <p:cTn id="26" dur="500" fill="hold"/>
                                        <p:tgtEl>
                                          <p:spTgt spid="2508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28650" y="195263"/>
            <a:ext cx="7772400" cy="1219200"/>
          </a:xfrm>
        </p:spPr>
        <p:txBody>
          <a:bodyPr/>
          <a:lstStyle/>
          <a:p>
            <a:r>
              <a:rPr lang="en-US" dirty="0"/>
              <a:t>Bringing a Relation to 1NF</a:t>
            </a:r>
          </a:p>
        </p:txBody>
      </p:sp>
      <p:grpSp>
        <p:nvGrpSpPr>
          <p:cNvPr id="2" name="Group 3"/>
          <p:cNvGrpSpPr>
            <a:grpSpLocks/>
          </p:cNvGrpSpPr>
          <p:nvPr/>
        </p:nvGrpSpPr>
        <p:grpSpPr bwMode="auto">
          <a:xfrm>
            <a:off x="1143000" y="3810000"/>
            <a:ext cx="6762750" cy="2393950"/>
            <a:chOff x="720" y="2160"/>
            <a:chExt cx="4260" cy="1508"/>
          </a:xfrm>
        </p:grpSpPr>
        <p:graphicFrame>
          <p:nvGraphicFramePr>
            <p:cNvPr id="17410" name="Object 4"/>
            <p:cNvGraphicFramePr>
              <a:graphicFrameLocks noChangeAspect="1"/>
            </p:cNvGraphicFramePr>
            <p:nvPr/>
          </p:nvGraphicFramePr>
          <p:xfrm>
            <a:off x="720" y="2160"/>
            <a:ext cx="4032" cy="1508"/>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160"/>
                          <a:ext cx="4032" cy="150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5"/>
            <p:cNvGrpSpPr>
              <a:grpSpLocks/>
            </p:cNvGrpSpPr>
            <p:nvPr/>
          </p:nvGrpSpPr>
          <p:grpSpPr bwMode="auto">
            <a:xfrm>
              <a:off x="3033" y="2445"/>
              <a:ext cx="1008" cy="144"/>
              <a:chOff x="1200" y="2448"/>
              <a:chExt cx="816" cy="144"/>
            </a:xfrm>
          </p:grpSpPr>
          <p:sp>
            <p:nvSpPr>
              <p:cNvPr id="17425"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7426"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7427"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7420" name="Oval 9"/>
            <p:cNvSpPr>
              <a:spLocks noChangeArrowheads="1"/>
            </p:cNvSpPr>
            <p:nvPr/>
          </p:nvSpPr>
          <p:spPr bwMode="auto">
            <a:xfrm>
              <a:off x="2529" y="2277"/>
              <a:ext cx="2451" cy="912"/>
            </a:xfrm>
            <a:prstGeom prst="ellipse">
              <a:avLst/>
            </a:prstGeom>
            <a:noFill/>
            <a:ln w="28575">
              <a:solidFill>
                <a:schemeClr val="tx2"/>
              </a:solidFill>
              <a:round/>
              <a:headEnd/>
              <a:tailEnd/>
            </a:ln>
          </p:spPr>
          <p:txBody>
            <a:bodyPr wrap="none" anchor="ctr"/>
            <a:lstStyle/>
            <a:p>
              <a:endParaRPr lang="en-US" dirty="0"/>
            </a:p>
          </p:txBody>
        </p:sp>
        <p:grpSp>
          <p:nvGrpSpPr>
            <p:cNvPr id="4" name="Group 10"/>
            <p:cNvGrpSpPr>
              <a:grpSpLocks/>
            </p:cNvGrpSpPr>
            <p:nvPr/>
          </p:nvGrpSpPr>
          <p:grpSpPr bwMode="auto">
            <a:xfrm>
              <a:off x="1008" y="2448"/>
              <a:ext cx="1008" cy="144"/>
              <a:chOff x="1200" y="2448"/>
              <a:chExt cx="816" cy="144"/>
            </a:xfrm>
          </p:grpSpPr>
          <p:sp>
            <p:nvSpPr>
              <p:cNvPr id="17422"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7423"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7424"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17413" name="Rectangle 14" descr="Rectangle: Click to edit Master text styles&#10;Second level&#10;Third level&#10;Fourth level&#10;Fifth level"/>
          <p:cNvSpPr>
            <a:spLocks noGrp="1" noChangeArrowheads="1"/>
          </p:cNvSpPr>
          <p:nvPr>
            <p:ph type="body" idx="1"/>
          </p:nvPr>
        </p:nvSpPr>
        <p:spPr>
          <a:xfrm>
            <a:off x="609600" y="1524000"/>
            <a:ext cx="7924800" cy="1524000"/>
          </a:xfrm>
          <a:noFill/>
        </p:spPr>
        <p:txBody>
          <a:bodyPr lIns="91440" tIns="45720" rIns="91440" bIns="45720">
            <a:normAutofit lnSpcReduction="10000"/>
          </a:bodyPr>
          <a:lstStyle/>
          <a:p>
            <a:r>
              <a:rPr lang="en-US" dirty="0"/>
              <a:t> Option 1: Make a determinant of the repeating group (or the multivalued attribute) a part of the primary key.</a:t>
            </a:r>
          </a:p>
        </p:txBody>
      </p:sp>
      <p:grpSp>
        <p:nvGrpSpPr>
          <p:cNvPr id="5" name="Group 15"/>
          <p:cNvGrpSpPr>
            <a:grpSpLocks/>
          </p:cNvGrpSpPr>
          <p:nvPr/>
        </p:nvGrpSpPr>
        <p:grpSpPr bwMode="auto">
          <a:xfrm>
            <a:off x="1876425" y="3038475"/>
            <a:ext cx="3457575" cy="1576388"/>
            <a:chOff x="1233" y="1350"/>
            <a:chExt cx="2178" cy="1233"/>
          </a:xfrm>
        </p:grpSpPr>
        <p:sp>
          <p:nvSpPr>
            <p:cNvPr id="17416" name="AutoShape 16"/>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17417" name="Line 17"/>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17418" name="Line 18"/>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
        <p:nvSpPr>
          <p:cNvPr id="251923" name="Line 19"/>
          <p:cNvSpPr>
            <a:spLocks noChangeShapeType="1"/>
          </p:cNvSpPr>
          <p:nvPr/>
        </p:nvSpPr>
        <p:spPr bwMode="auto">
          <a:xfrm>
            <a:off x="4114800" y="4843463"/>
            <a:ext cx="1219200" cy="0"/>
          </a:xfrm>
          <a:prstGeom prst="line">
            <a:avLst/>
          </a:prstGeom>
          <a:noFill/>
          <a:ln w="38100">
            <a:solidFill>
              <a:srgbClr val="000000"/>
            </a:solidFill>
            <a:round/>
            <a:headEnd/>
            <a:tailEnd/>
          </a:ln>
        </p:spPr>
        <p:txBody>
          <a:bodyPr anchor="b"/>
          <a:lstStyle/>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23"/>
                                        </p:tgtEl>
                                        <p:attrNameLst>
                                          <p:attrName>style.visibility</p:attrName>
                                        </p:attrNameLst>
                                      </p:cBhvr>
                                      <p:to>
                                        <p:strVal val="visible"/>
                                      </p:to>
                                    </p:set>
                                    <p:anim calcmode="lin" valueType="num">
                                      <p:cBhvr additive="base">
                                        <p:cTn id="7" dur="500" fill="hold"/>
                                        <p:tgtEl>
                                          <p:spTgt spid="251923"/>
                                        </p:tgtEl>
                                        <p:attrNameLst>
                                          <p:attrName>ppt_x</p:attrName>
                                        </p:attrNameLst>
                                      </p:cBhvr>
                                      <p:tavLst>
                                        <p:tav tm="0">
                                          <p:val>
                                            <p:strVal val="0-#ppt_w/2"/>
                                          </p:val>
                                        </p:tav>
                                        <p:tav tm="100000">
                                          <p:val>
                                            <p:strVal val="#ppt_x"/>
                                          </p:val>
                                        </p:tav>
                                      </p:tavLst>
                                    </p:anim>
                                    <p:anim calcmode="lin" valueType="num">
                                      <p:cBhvr additive="base">
                                        <p:cTn id="8" dur="500" fill="hold"/>
                                        <p:tgtEl>
                                          <p:spTgt spid="2519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2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628650" y="195263"/>
            <a:ext cx="7772400" cy="1219200"/>
          </a:xfrm>
        </p:spPr>
        <p:txBody>
          <a:bodyPr/>
          <a:lstStyle/>
          <a:p>
            <a:r>
              <a:rPr lang="en-US" dirty="0"/>
              <a:t>Bringing a Relation to 1NF</a:t>
            </a:r>
          </a:p>
        </p:txBody>
      </p:sp>
      <p:sp>
        <p:nvSpPr>
          <p:cNvPr id="18436" name="Rectangle 3"/>
          <p:cNvSpPr>
            <a:spLocks noGrp="1" noChangeArrowheads="1"/>
          </p:cNvSpPr>
          <p:nvPr>
            <p:ph type="body" idx="1"/>
          </p:nvPr>
        </p:nvSpPr>
        <p:spPr>
          <a:xfrm>
            <a:off x="747713" y="1509713"/>
            <a:ext cx="7696200" cy="2376487"/>
          </a:xfrm>
        </p:spPr>
        <p:txBody>
          <a:bodyPr>
            <a:normAutofit lnSpcReduction="10000"/>
          </a:bodyPr>
          <a:lstStyle/>
          <a:p>
            <a:pPr>
              <a:lnSpc>
                <a:spcPct val="90000"/>
              </a:lnSpc>
            </a:pPr>
            <a:r>
              <a:rPr lang="en-US" sz="2800" dirty="0"/>
              <a:t> </a:t>
            </a:r>
            <a:r>
              <a:rPr lang="en-US" sz="2400" dirty="0"/>
              <a:t>Option 2: Remove the entire repeating group from the relation. Create another relation which would contain all the attributes of the repeating group, plus the primary key from the first relation. In this new relation, the primary key from the original relation and the determinant of the repeating group will comprise a primary key. </a:t>
            </a:r>
          </a:p>
        </p:txBody>
      </p:sp>
      <p:grpSp>
        <p:nvGrpSpPr>
          <p:cNvPr id="2" name="Group 4"/>
          <p:cNvGrpSpPr>
            <a:grpSpLocks/>
          </p:cNvGrpSpPr>
          <p:nvPr/>
        </p:nvGrpSpPr>
        <p:grpSpPr bwMode="auto">
          <a:xfrm>
            <a:off x="1071563" y="3957638"/>
            <a:ext cx="6734175" cy="2179637"/>
            <a:chOff x="675" y="2493"/>
            <a:chExt cx="4242" cy="1373"/>
          </a:xfrm>
        </p:grpSpPr>
        <p:graphicFrame>
          <p:nvGraphicFramePr>
            <p:cNvPr id="18434" name="Object 5"/>
            <p:cNvGraphicFramePr>
              <a:graphicFrameLocks noChangeAspect="1"/>
            </p:cNvGraphicFramePr>
            <p:nvPr/>
          </p:nvGraphicFramePr>
          <p:xfrm>
            <a:off x="675" y="2493"/>
            <a:ext cx="4032" cy="1373"/>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 y="2493"/>
                          <a:ext cx="4032" cy="1373"/>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2970" y="2742"/>
              <a:ext cx="1008" cy="144"/>
              <a:chOff x="1200" y="2448"/>
              <a:chExt cx="816" cy="144"/>
            </a:xfrm>
          </p:grpSpPr>
          <p:sp>
            <p:nvSpPr>
              <p:cNvPr id="18444"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8445"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8446"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18439" name="Oval 10"/>
            <p:cNvSpPr>
              <a:spLocks noChangeArrowheads="1"/>
            </p:cNvSpPr>
            <p:nvPr/>
          </p:nvSpPr>
          <p:spPr bwMode="auto">
            <a:xfrm>
              <a:off x="2466" y="2574"/>
              <a:ext cx="2451" cy="912"/>
            </a:xfrm>
            <a:prstGeom prst="ellipse">
              <a:avLst/>
            </a:prstGeom>
            <a:noFill/>
            <a:ln w="28575">
              <a:solidFill>
                <a:schemeClr val="tx2"/>
              </a:solidFill>
              <a:round/>
              <a:headEnd/>
              <a:tailEnd/>
            </a:ln>
          </p:spPr>
          <p:txBody>
            <a:bodyPr wrap="none" anchor="ctr"/>
            <a:lstStyle/>
            <a:p>
              <a:endParaRPr lang="en-US" dirty="0"/>
            </a:p>
          </p:txBody>
        </p:sp>
        <p:grpSp>
          <p:nvGrpSpPr>
            <p:cNvPr id="4" name="Group 11"/>
            <p:cNvGrpSpPr>
              <a:grpSpLocks/>
            </p:cNvGrpSpPr>
            <p:nvPr/>
          </p:nvGrpSpPr>
          <p:grpSpPr bwMode="auto">
            <a:xfrm>
              <a:off x="945" y="2745"/>
              <a:ext cx="1008" cy="144"/>
              <a:chOff x="1200" y="2448"/>
              <a:chExt cx="816" cy="144"/>
            </a:xfrm>
          </p:grpSpPr>
          <p:sp>
            <p:nvSpPr>
              <p:cNvPr id="18441"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8442"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8443"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628650" y="195263"/>
            <a:ext cx="7772400" cy="1219200"/>
          </a:xfrm>
        </p:spPr>
        <p:txBody>
          <a:bodyPr/>
          <a:lstStyle/>
          <a:p>
            <a:r>
              <a:rPr lang="en-US" dirty="0"/>
              <a:t>Bringing a Relation to 1NF</a:t>
            </a:r>
          </a:p>
        </p:txBody>
      </p:sp>
      <p:grpSp>
        <p:nvGrpSpPr>
          <p:cNvPr id="2" name="Group 3"/>
          <p:cNvGrpSpPr>
            <a:grpSpLocks/>
          </p:cNvGrpSpPr>
          <p:nvPr/>
        </p:nvGrpSpPr>
        <p:grpSpPr bwMode="auto">
          <a:xfrm>
            <a:off x="1579563" y="4067175"/>
            <a:ext cx="5118100" cy="1944688"/>
            <a:chOff x="995" y="2562"/>
            <a:chExt cx="3224" cy="1225"/>
          </a:xfrm>
        </p:grpSpPr>
        <p:graphicFrame>
          <p:nvGraphicFramePr>
            <p:cNvPr id="19459" name="Object 4"/>
            <p:cNvGraphicFramePr>
              <a:graphicFrameLocks noChangeAspect="1"/>
            </p:cNvGraphicFramePr>
            <p:nvPr/>
          </p:nvGraphicFramePr>
          <p:xfrm>
            <a:off x="995" y="2562"/>
            <a:ext cx="3224" cy="1225"/>
          </p:xfrm>
          <a:graphic>
            <a:graphicData uri="http://schemas.openxmlformats.org/presentationml/2006/ole">
              <mc:AlternateContent xmlns:mc="http://schemas.openxmlformats.org/markup-compatibility/2006">
                <mc:Choice xmlns:v="urn:schemas-microsoft-com:vml" Requires="v">
                  <p:oleObj name="Worksheet" r:id="rId2" imgW="2812680" imgH="1383840" progId="Excel.Sheet.8">
                    <p:embed/>
                  </p:oleObj>
                </mc:Choice>
                <mc:Fallback>
                  <p:oleObj name="Worksheet" r:id="rId2" imgW="2812680" imgH="1383840"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5" y="2562"/>
                          <a:ext cx="3224" cy="122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5"/>
            <p:cNvGrpSpPr>
              <a:grpSpLocks/>
            </p:cNvGrpSpPr>
            <p:nvPr/>
          </p:nvGrpSpPr>
          <p:grpSpPr bwMode="auto">
            <a:xfrm>
              <a:off x="2277" y="2751"/>
              <a:ext cx="1008" cy="144"/>
              <a:chOff x="1200" y="2448"/>
              <a:chExt cx="816" cy="144"/>
            </a:xfrm>
          </p:grpSpPr>
          <p:sp>
            <p:nvSpPr>
              <p:cNvPr id="19468"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9469"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9470"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4" name="Group 9"/>
          <p:cNvGrpSpPr>
            <a:grpSpLocks/>
          </p:cNvGrpSpPr>
          <p:nvPr/>
        </p:nvGrpSpPr>
        <p:grpSpPr bwMode="auto">
          <a:xfrm>
            <a:off x="2562225" y="1624013"/>
            <a:ext cx="2803525" cy="1973262"/>
            <a:chOff x="1614" y="1023"/>
            <a:chExt cx="1766" cy="1243"/>
          </a:xfrm>
        </p:grpSpPr>
        <p:graphicFrame>
          <p:nvGraphicFramePr>
            <p:cNvPr id="19458" name="Object 10"/>
            <p:cNvGraphicFramePr>
              <a:graphicFrameLocks noChangeAspect="1"/>
            </p:cNvGraphicFramePr>
            <p:nvPr/>
          </p:nvGraphicFramePr>
          <p:xfrm>
            <a:off x="1614" y="1023"/>
            <a:ext cx="1766" cy="1243"/>
          </p:xfrm>
          <a:graphic>
            <a:graphicData uri="http://schemas.openxmlformats.org/presentationml/2006/ole">
              <mc:AlternateContent xmlns:mc="http://schemas.openxmlformats.org/markup-compatibility/2006">
                <mc:Choice xmlns:v="urn:schemas-microsoft-com:vml" Requires="v">
                  <p:oleObj name="Worksheet" r:id="rId4" imgW="1371689" imgH="961937" progId="Excel.Sheet.8">
                    <p:embed/>
                  </p:oleObj>
                </mc:Choice>
                <mc:Fallback>
                  <p:oleObj name="Worksheet" r:id="rId4" imgW="1371689" imgH="961937" progId="Excel.Sheet.8">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4" y="1023"/>
                          <a:ext cx="1766" cy="1243"/>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5" name="Group 11"/>
            <p:cNvGrpSpPr>
              <a:grpSpLocks/>
            </p:cNvGrpSpPr>
            <p:nvPr/>
          </p:nvGrpSpPr>
          <p:grpSpPr bwMode="auto">
            <a:xfrm>
              <a:off x="1971" y="1242"/>
              <a:ext cx="1008" cy="144"/>
              <a:chOff x="1200" y="2448"/>
              <a:chExt cx="816" cy="144"/>
            </a:xfrm>
          </p:grpSpPr>
          <p:sp>
            <p:nvSpPr>
              <p:cNvPr id="19464"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19465"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19466"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28650" y="195263"/>
            <a:ext cx="7772400" cy="1219200"/>
          </a:xfrm>
        </p:spPr>
        <p:txBody>
          <a:bodyPr/>
          <a:lstStyle/>
          <a:p>
            <a:r>
              <a:rPr lang="en-US" dirty="0"/>
              <a:t>Bringing a Relation to 2NF</a:t>
            </a:r>
          </a:p>
        </p:txBody>
      </p:sp>
      <p:graphicFrame>
        <p:nvGraphicFramePr>
          <p:cNvPr id="254979" name="Object 3"/>
          <p:cNvGraphicFramePr>
            <a:graphicFrameLocks noChangeAspect="1"/>
          </p:cNvGraphicFramePr>
          <p:nvPr/>
        </p:nvGraphicFramePr>
        <p:xfrm>
          <a:off x="1143000" y="3429000"/>
          <a:ext cx="6400800" cy="2393950"/>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400800" cy="239395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4"/>
          <p:cNvGrpSpPr>
            <a:grpSpLocks/>
          </p:cNvGrpSpPr>
          <p:nvPr/>
        </p:nvGrpSpPr>
        <p:grpSpPr bwMode="auto">
          <a:xfrm>
            <a:off x="1957388" y="2143125"/>
            <a:ext cx="3457575" cy="1957388"/>
            <a:chOff x="1233" y="1350"/>
            <a:chExt cx="2178" cy="1233"/>
          </a:xfrm>
        </p:grpSpPr>
        <p:sp>
          <p:nvSpPr>
            <p:cNvPr id="20485" name="AutoShape 5"/>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20486" name="Line 6"/>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20487" name="Line 7"/>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4979"/>
                                        </p:tgtEl>
                                        <p:attrNameLst>
                                          <p:attrName>style.visibility</p:attrName>
                                        </p:attrNameLst>
                                      </p:cBhvr>
                                      <p:to>
                                        <p:strVal val="visible"/>
                                      </p:to>
                                    </p:set>
                                    <p:anim calcmode="lin" valueType="num">
                                      <p:cBhvr additive="base">
                                        <p:cTn id="7" dur="500" fill="hold"/>
                                        <p:tgtEl>
                                          <p:spTgt spid="254979"/>
                                        </p:tgtEl>
                                        <p:attrNameLst>
                                          <p:attrName>ppt_x</p:attrName>
                                        </p:attrNameLst>
                                      </p:cBhvr>
                                      <p:tavLst>
                                        <p:tav tm="0">
                                          <p:val>
                                            <p:strVal val="0-#ppt_w/2"/>
                                          </p:val>
                                        </p:tav>
                                        <p:tav tm="100000">
                                          <p:val>
                                            <p:strVal val="#ppt_x"/>
                                          </p:val>
                                        </p:tav>
                                      </p:tavLst>
                                    </p:anim>
                                    <p:anim calcmode="lin" valueType="num">
                                      <p:cBhvr additive="base">
                                        <p:cTn id="8" dur="500" fill="hold"/>
                                        <p:tgtEl>
                                          <p:spTgt spid="2549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628650" y="195263"/>
            <a:ext cx="7772400" cy="1219200"/>
          </a:xfrm>
        </p:spPr>
        <p:txBody>
          <a:bodyPr/>
          <a:lstStyle/>
          <a:p>
            <a:r>
              <a:rPr lang="en-US" dirty="0"/>
              <a:t>Bringing a Relation to 2NF</a:t>
            </a:r>
          </a:p>
        </p:txBody>
      </p:sp>
      <p:graphicFrame>
        <p:nvGraphicFramePr>
          <p:cNvPr id="256003" name="Object 3"/>
          <p:cNvGraphicFramePr>
            <a:graphicFrameLocks noChangeAspect="1"/>
          </p:cNvGraphicFramePr>
          <p:nvPr/>
        </p:nvGraphicFramePr>
        <p:xfrm>
          <a:off x="1143000" y="3429000"/>
          <a:ext cx="6400800" cy="2393950"/>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400800" cy="239395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2" name="Group 4"/>
          <p:cNvGrpSpPr>
            <a:grpSpLocks/>
          </p:cNvGrpSpPr>
          <p:nvPr/>
        </p:nvGrpSpPr>
        <p:grpSpPr bwMode="auto">
          <a:xfrm>
            <a:off x="871538" y="2143125"/>
            <a:ext cx="3667125" cy="1957388"/>
            <a:chOff x="549" y="1350"/>
            <a:chExt cx="2310" cy="1233"/>
          </a:xfrm>
        </p:grpSpPr>
        <p:sp>
          <p:nvSpPr>
            <p:cNvPr id="21526" name="AutoShape 5"/>
            <p:cNvSpPr>
              <a:spLocks noChangeArrowheads="1"/>
            </p:cNvSpPr>
            <p:nvPr/>
          </p:nvSpPr>
          <p:spPr bwMode="auto">
            <a:xfrm>
              <a:off x="549" y="1350"/>
              <a:ext cx="1566" cy="546"/>
            </a:xfrm>
            <a:prstGeom prst="wedgeEllipseCallout">
              <a:avLst>
                <a:gd name="adj1" fmla="val 33907"/>
                <a:gd name="adj2" fmla="val 64102"/>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Composite Primary Key</a:t>
              </a:r>
            </a:p>
          </p:txBody>
        </p:sp>
        <p:sp>
          <p:nvSpPr>
            <p:cNvPr id="21527" name="Line 6"/>
            <p:cNvSpPr>
              <a:spLocks noChangeShapeType="1"/>
            </p:cNvSpPr>
            <p:nvPr/>
          </p:nvSpPr>
          <p:spPr bwMode="auto">
            <a:xfrm flipH="1">
              <a:off x="1233" y="2007"/>
              <a:ext cx="657" cy="576"/>
            </a:xfrm>
            <a:prstGeom prst="line">
              <a:avLst/>
            </a:prstGeom>
            <a:noFill/>
            <a:ln w="38100">
              <a:solidFill>
                <a:schemeClr val="tx2"/>
              </a:solidFill>
              <a:round/>
              <a:headEnd/>
              <a:tailEnd type="triangle" w="med" len="med"/>
            </a:ln>
          </p:spPr>
          <p:txBody>
            <a:bodyPr anchor="b"/>
            <a:lstStyle/>
            <a:p>
              <a:endParaRPr lang="en-US" dirty="0"/>
            </a:p>
          </p:txBody>
        </p:sp>
        <p:sp>
          <p:nvSpPr>
            <p:cNvPr id="21528" name="Line 7"/>
            <p:cNvSpPr>
              <a:spLocks noChangeShapeType="1"/>
            </p:cNvSpPr>
            <p:nvPr/>
          </p:nvSpPr>
          <p:spPr bwMode="auto">
            <a:xfrm>
              <a:off x="1887" y="2004"/>
              <a:ext cx="972" cy="576"/>
            </a:xfrm>
            <a:prstGeom prst="line">
              <a:avLst/>
            </a:prstGeom>
            <a:noFill/>
            <a:ln w="38100">
              <a:solidFill>
                <a:schemeClr val="tx2"/>
              </a:solidFill>
              <a:round/>
              <a:headEnd/>
              <a:tailEnd type="triangle" w="med" len="med"/>
            </a:ln>
          </p:spPr>
          <p:txBody>
            <a:bodyPr anchor="b"/>
            <a:lstStyle/>
            <a:p>
              <a:endParaRPr lang="en-US" dirty="0"/>
            </a:p>
          </p:txBody>
        </p:sp>
      </p:grpSp>
      <p:grpSp>
        <p:nvGrpSpPr>
          <p:cNvPr id="3" name="Group 8"/>
          <p:cNvGrpSpPr>
            <a:grpSpLocks/>
          </p:cNvGrpSpPr>
          <p:nvPr/>
        </p:nvGrpSpPr>
        <p:grpSpPr bwMode="auto">
          <a:xfrm>
            <a:off x="814388" y="3481388"/>
            <a:ext cx="6586537" cy="1452562"/>
            <a:chOff x="513" y="2193"/>
            <a:chExt cx="4149" cy="915"/>
          </a:xfrm>
        </p:grpSpPr>
        <p:grpSp>
          <p:nvGrpSpPr>
            <p:cNvPr id="4" name="Group 9"/>
            <p:cNvGrpSpPr>
              <a:grpSpLocks/>
            </p:cNvGrpSpPr>
            <p:nvPr/>
          </p:nvGrpSpPr>
          <p:grpSpPr bwMode="auto">
            <a:xfrm>
              <a:off x="3033" y="2445"/>
              <a:ext cx="1008" cy="144"/>
              <a:chOff x="1200" y="2448"/>
              <a:chExt cx="816" cy="144"/>
            </a:xfrm>
          </p:grpSpPr>
          <p:sp>
            <p:nvSpPr>
              <p:cNvPr id="21523" name="Line 1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1524" name="Line 1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1525" name="Line 1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1516" name="Line 13"/>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5" name="Group 14"/>
            <p:cNvGrpSpPr>
              <a:grpSpLocks/>
            </p:cNvGrpSpPr>
            <p:nvPr/>
          </p:nvGrpSpPr>
          <p:grpSpPr bwMode="auto">
            <a:xfrm>
              <a:off x="1008" y="2448"/>
              <a:ext cx="1008" cy="144"/>
              <a:chOff x="1200" y="2448"/>
              <a:chExt cx="816" cy="144"/>
            </a:xfrm>
          </p:grpSpPr>
          <p:sp>
            <p:nvSpPr>
              <p:cNvPr id="21520"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1521"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1522"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1518" name="Oval 18"/>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1519" name="Oval 19"/>
            <p:cNvSpPr>
              <a:spLocks noChangeArrowheads="1"/>
            </p:cNvSpPr>
            <p:nvPr/>
          </p:nvSpPr>
          <p:spPr bwMode="auto">
            <a:xfrm>
              <a:off x="2571" y="2193"/>
              <a:ext cx="2091" cy="912"/>
            </a:xfrm>
            <a:prstGeom prst="ellipse">
              <a:avLst/>
            </a:prstGeom>
            <a:noFill/>
            <a:ln w="28575">
              <a:solidFill>
                <a:schemeClr val="tx2"/>
              </a:solidFill>
              <a:round/>
              <a:headEnd/>
              <a:tailEnd/>
            </a:ln>
          </p:spPr>
          <p:txBody>
            <a:bodyPr wrap="none" anchor="ctr"/>
            <a:lstStyle/>
            <a:p>
              <a:endParaRPr lang="en-US" dirty="0"/>
            </a:p>
          </p:txBody>
        </p:sp>
      </p:grpSp>
      <p:sp>
        <p:nvSpPr>
          <p:cNvPr id="21510" name="Rectangle 20"/>
          <p:cNvSpPr>
            <a:spLocks noGrp="1" noChangeArrowheads="1"/>
          </p:cNvSpPr>
          <p:nvPr>
            <p:ph type="body" idx="1"/>
          </p:nvPr>
        </p:nvSpPr>
        <p:spPr>
          <a:xfrm>
            <a:off x="719138" y="1538288"/>
            <a:ext cx="7696200" cy="776287"/>
          </a:xfrm>
        </p:spPr>
        <p:txBody>
          <a:bodyPr/>
          <a:lstStyle/>
          <a:p>
            <a:r>
              <a:rPr lang="en-US" dirty="0"/>
              <a:t>Goal: Remove Partial Dependencies</a:t>
            </a:r>
          </a:p>
        </p:txBody>
      </p:sp>
      <p:grpSp>
        <p:nvGrpSpPr>
          <p:cNvPr id="6" name="Group 21"/>
          <p:cNvGrpSpPr>
            <a:grpSpLocks/>
          </p:cNvGrpSpPr>
          <p:nvPr/>
        </p:nvGrpSpPr>
        <p:grpSpPr bwMode="auto">
          <a:xfrm>
            <a:off x="3038475" y="1938338"/>
            <a:ext cx="4286250" cy="1685925"/>
            <a:chOff x="1233" y="1350"/>
            <a:chExt cx="2178" cy="1233"/>
          </a:xfrm>
        </p:grpSpPr>
        <p:sp>
          <p:nvSpPr>
            <p:cNvPr id="21512" name="AutoShape 22"/>
            <p:cNvSpPr>
              <a:spLocks noChangeArrowheads="1"/>
            </p:cNvSpPr>
            <p:nvPr/>
          </p:nvSpPr>
          <p:spPr bwMode="auto">
            <a:xfrm>
              <a:off x="1872" y="1350"/>
              <a:ext cx="1539" cy="546"/>
            </a:xfrm>
            <a:prstGeom prst="wedgeEllipseCallout">
              <a:avLst>
                <a:gd name="adj1" fmla="val -12574"/>
                <a:gd name="adj2" fmla="val 106958"/>
              </a:avLst>
            </a:prstGeom>
            <a:solidFill>
              <a:schemeClr val="bg2"/>
            </a:solidFill>
            <a:ln w="12700">
              <a:solidFill>
                <a:schemeClr val="tx2"/>
              </a:solidFill>
              <a:miter lim="800000"/>
              <a:headEnd/>
              <a:tailEnd/>
            </a:ln>
          </p:spPr>
          <p:txBody>
            <a:bodyPr anchor="b"/>
            <a:lstStyle/>
            <a:p>
              <a:pPr algn="ctr" eaLnBrk="1" hangingPunct="1"/>
              <a:r>
                <a:rPr lang="en-US" sz="1800" b="1" dirty="0">
                  <a:solidFill>
                    <a:schemeClr val="tx2"/>
                  </a:solidFill>
                </a:rPr>
                <a:t>Partial Dependencies</a:t>
              </a:r>
            </a:p>
          </p:txBody>
        </p:sp>
        <p:sp>
          <p:nvSpPr>
            <p:cNvPr id="21513" name="Line 23"/>
            <p:cNvSpPr>
              <a:spLocks noChangeShapeType="1"/>
            </p:cNvSpPr>
            <p:nvPr/>
          </p:nvSpPr>
          <p:spPr bwMode="auto">
            <a:xfrm flipH="1">
              <a:off x="1233" y="2196"/>
              <a:ext cx="1215" cy="387"/>
            </a:xfrm>
            <a:prstGeom prst="line">
              <a:avLst/>
            </a:prstGeom>
            <a:noFill/>
            <a:ln w="38100">
              <a:solidFill>
                <a:schemeClr val="tx2"/>
              </a:solidFill>
              <a:round/>
              <a:headEnd/>
              <a:tailEnd type="triangle" w="med" len="med"/>
            </a:ln>
          </p:spPr>
          <p:txBody>
            <a:bodyPr anchor="b"/>
            <a:lstStyle/>
            <a:p>
              <a:endParaRPr lang="en-US" dirty="0"/>
            </a:p>
          </p:txBody>
        </p:sp>
        <p:sp>
          <p:nvSpPr>
            <p:cNvPr id="21514" name="Line 24"/>
            <p:cNvSpPr>
              <a:spLocks noChangeShapeType="1"/>
            </p:cNvSpPr>
            <p:nvPr/>
          </p:nvSpPr>
          <p:spPr bwMode="auto">
            <a:xfrm>
              <a:off x="2472" y="2184"/>
              <a:ext cx="387" cy="396"/>
            </a:xfrm>
            <a:prstGeom prst="line">
              <a:avLst/>
            </a:prstGeom>
            <a:noFill/>
            <a:ln w="38100">
              <a:solidFill>
                <a:schemeClr val="tx2"/>
              </a:solidFill>
              <a:round/>
              <a:headEnd/>
              <a:tailEnd type="triangle" w="med" len="med"/>
            </a:ln>
          </p:spPr>
          <p:txBody>
            <a:bodyPr anchor="b"/>
            <a:lstStyle/>
            <a:p>
              <a:endParaRPr lang="en-US" dirty="0"/>
            </a:p>
          </p:txBody>
        </p:sp>
      </p:gr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6003"/>
                                        </p:tgtEl>
                                        <p:attrNameLst>
                                          <p:attrName>style.visibility</p:attrName>
                                        </p:attrNameLst>
                                      </p:cBhvr>
                                      <p:to>
                                        <p:strVal val="visible"/>
                                      </p:to>
                                    </p:set>
                                    <p:anim calcmode="lin" valueType="num">
                                      <p:cBhvr additive="base">
                                        <p:cTn id="7" dur="500" fill="hold"/>
                                        <p:tgtEl>
                                          <p:spTgt spid="256003"/>
                                        </p:tgtEl>
                                        <p:attrNameLst>
                                          <p:attrName>ppt_x</p:attrName>
                                        </p:attrNameLst>
                                      </p:cBhvr>
                                      <p:tavLst>
                                        <p:tav tm="0">
                                          <p:val>
                                            <p:strVal val="0-#ppt_w/2"/>
                                          </p:val>
                                        </p:tav>
                                        <p:tav tm="100000">
                                          <p:val>
                                            <p:strVal val="#ppt_x"/>
                                          </p:val>
                                        </p:tav>
                                      </p:tavLst>
                                    </p:anim>
                                    <p:anim calcmode="lin" valueType="num">
                                      <p:cBhvr additive="base">
                                        <p:cTn id="8" dur="500" fill="hold"/>
                                        <p:tgtEl>
                                          <p:spTgt spid="2560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628650" y="195263"/>
            <a:ext cx="7772400" cy="1219200"/>
          </a:xfrm>
        </p:spPr>
        <p:txBody>
          <a:bodyPr/>
          <a:lstStyle/>
          <a:p>
            <a:r>
              <a:rPr lang="en-US" dirty="0"/>
              <a:t>Bringing a Relation to 2NF</a:t>
            </a:r>
          </a:p>
        </p:txBody>
      </p:sp>
      <p:grpSp>
        <p:nvGrpSpPr>
          <p:cNvPr id="2" name="Group 3"/>
          <p:cNvGrpSpPr>
            <a:grpSpLocks/>
          </p:cNvGrpSpPr>
          <p:nvPr/>
        </p:nvGrpSpPr>
        <p:grpSpPr bwMode="auto">
          <a:xfrm>
            <a:off x="814388" y="3429000"/>
            <a:ext cx="6729412" cy="2393950"/>
            <a:chOff x="513" y="2160"/>
            <a:chExt cx="4239" cy="1508"/>
          </a:xfrm>
        </p:grpSpPr>
        <p:graphicFrame>
          <p:nvGraphicFramePr>
            <p:cNvPr id="22530" name="Object 4"/>
            <p:cNvGraphicFramePr>
              <a:graphicFrameLocks noChangeAspect="1"/>
            </p:cNvGraphicFramePr>
            <p:nvPr/>
          </p:nvGraphicFramePr>
          <p:xfrm>
            <a:off x="720" y="2160"/>
            <a:ext cx="4032" cy="1508"/>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160"/>
                          <a:ext cx="4032" cy="150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5"/>
            <p:cNvGrpSpPr>
              <a:grpSpLocks/>
            </p:cNvGrpSpPr>
            <p:nvPr/>
          </p:nvGrpSpPr>
          <p:grpSpPr bwMode="auto">
            <a:xfrm>
              <a:off x="3033" y="2445"/>
              <a:ext cx="1008" cy="144"/>
              <a:chOff x="1200" y="2448"/>
              <a:chExt cx="816" cy="144"/>
            </a:xfrm>
          </p:grpSpPr>
          <p:sp>
            <p:nvSpPr>
              <p:cNvPr id="22542" name="Line 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2543" name="Line 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2544" name="Line 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2535" name="Line 9"/>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4" name="Group 10"/>
            <p:cNvGrpSpPr>
              <a:grpSpLocks/>
            </p:cNvGrpSpPr>
            <p:nvPr/>
          </p:nvGrpSpPr>
          <p:grpSpPr bwMode="auto">
            <a:xfrm>
              <a:off x="1008" y="2448"/>
              <a:ext cx="1008" cy="144"/>
              <a:chOff x="1200" y="2448"/>
              <a:chExt cx="816" cy="144"/>
            </a:xfrm>
          </p:grpSpPr>
          <p:sp>
            <p:nvSpPr>
              <p:cNvPr id="22539"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2540"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2541"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2537" name="Oval 14"/>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2538" name="Oval 15"/>
            <p:cNvSpPr>
              <a:spLocks noChangeArrowheads="1"/>
            </p:cNvSpPr>
            <p:nvPr/>
          </p:nvSpPr>
          <p:spPr bwMode="auto">
            <a:xfrm>
              <a:off x="2571" y="2274"/>
              <a:ext cx="2091" cy="912"/>
            </a:xfrm>
            <a:prstGeom prst="ellipse">
              <a:avLst/>
            </a:prstGeom>
            <a:noFill/>
            <a:ln w="28575">
              <a:solidFill>
                <a:schemeClr val="tx2"/>
              </a:solidFill>
              <a:round/>
              <a:headEnd/>
              <a:tailEnd/>
            </a:ln>
          </p:spPr>
          <p:txBody>
            <a:bodyPr wrap="none" anchor="ctr"/>
            <a:lstStyle/>
            <a:p>
              <a:endParaRPr lang="en-US" dirty="0"/>
            </a:p>
          </p:txBody>
        </p:sp>
      </p:grpSp>
      <p:sp>
        <p:nvSpPr>
          <p:cNvPr id="22533" name="Rectangle 16"/>
          <p:cNvSpPr>
            <a:spLocks noGrp="1" noChangeArrowheads="1"/>
          </p:cNvSpPr>
          <p:nvPr>
            <p:ph type="body" idx="1"/>
          </p:nvPr>
        </p:nvSpPr>
        <p:spPr>
          <a:xfrm>
            <a:off x="719138" y="1538288"/>
            <a:ext cx="7696200" cy="1814512"/>
          </a:xfrm>
        </p:spPr>
        <p:txBody>
          <a:bodyPr/>
          <a:lstStyle/>
          <a:p>
            <a:pPr>
              <a:lnSpc>
                <a:spcPct val="90000"/>
              </a:lnSpc>
            </a:pPr>
            <a:r>
              <a:rPr lang="en-US" sz="2400" dirty="0"/>
              <a:t>Remove attributes that are dependent from the part but not the whole of the primary key from the original relation. For each partial dependency, create a new relation, with the corresponding part of the primary key from the original as the primary key.</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2"/>
          <p:cNvSpPr>
            <a:spLocks noGrp="1" noChangeArrowheads="1"/>
          </p:cNvSpPr>
          <p:nvPr>
            <p:ph type="title"/>
          </p:nvPr>
        </p:nvSpPr>
        <p:spPr>
          <a:xfrm>
            <a:off x="457200" y="228600"/>
            <a:ext cx="7772400" cy="704850"/>
          </a:xfrm>
        </p:spPr>
        <p:txBody>
          <a:bodyPr>
            <a:normAutofit fontScale="90000"/>
          </a:bodyPr>
          <a:lstStyle/>
          <a:p>
            <a:r>
              <a:rPr lang="en-US" dirty="0"/>
              <a:t>Bringing a Relation to 2NF</a:t>
            </a:r>
          </a:p>
        </p:txBody>
      </p:sp>
      <p:grpSp>
        <p:nvGrpSpPr>
          <p:cNvPr id="2" name="Group 3"/>
          <p:cNvGrpSpPr>
            <a:grpSpLocks/>
          </p:cNvGrpSpPr>
          <p:nvPr/>
        </p:nvGrpSpPr>
        <p:grpSpPr bwMode="auto">
          <a:xfrm>
            <a:off x="381000" y="1143000"/>
            <a:ext cx="3057525" cy="1265238"/>
            <a:chOff x="513" y="2160"/>
            <a:chExt cx="4239" cy="1508"/>
          </a:xfrm>
        </p:grpSpPr>
        <p:grpSp>
          <p:nvGrpSpPr>
            <p:cNvPr id="3" name="Group 4"/>
            <p:cNvGrpSpPr>
              <a:grpSpLocks/>
            </p:cNvGrpSpPr>
            <p:nvPr/>
          </p:nvGrpSpPr>
          <p:grpSpPr bwMode="auto">
            <a:xfrm>
              <a:off x="720" y="2160"/>
              <a:ext cx="4032" cy="1508"/>
              <a:chOff x="720" y="2160"/>
              <a:chExt cx="4032" cy="1508"/>
            </a:xfrm>
          </p:grpSpPr>
          <p:graphicFrame>
            <p:nvGraphicFramePr>
              <p:cNvPr id="23557" name="Object 5"/>
              <p:cNvGraphicFramePr>
                <a:graphicFrameLocks noChangeAspect="1"/>
              </p:cNvGraphicFramePr>
              <p:nvPr/>
            </p:nvGraphicFramePr>
            <p:xfrm>
              <a:off x="720" y="2160"/>
              <a:ext cx="4032" cy="1508"/>
            </p:xfrm>
            <a:graphic>
              <a:graphicData uri="http://schemas.openxmlformats.org/presentationml/2006/ole">
                <mc:AlternateContent xmlns:mc="http://schemas.openxmlformats.org/markup-compatibility/2006">
                  <mc:Choice xmlns:v="urn:schemas-microsoft-com:vml" Requires="v">
                    <p:oleObj name="Worksheet" r:id="rId2" imgW="3133760" imgH="1171623" progId="Excel.Sheet.8">
                      <p:embed/>
                    </p:oleObj>
                  </mc:Choice>
                  <mc:Fallback>
                    <p:oleObj name="Worksheet" r:id="rId2" imgW="3133760" imgH="1171623"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 y="2160"/>
                            <a:ext cx="4032" cy="150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4" name="Group 6"/>
              <p:cNvGrpSpPr>
                <a:grpSpLocks/>
              </p:cNvGrpSpPr>
              <p:nvPr/>
            </p:nvGrpSpPr>
            <p:grpSpPr bwMode="auto">
              <a:xfrm>
                <a:off x="3033" y="2445"/>
                <a:ext cx="1008" cy="144"/>
                <a:chOff x="1200" y="2448"/>
                <a:chExt cx="816" cy="144"/>
              </a:xfrm>
            </p:grpSpPr>
            <p:sp>
              <p:nvSpPr>
                <p:cNvPr id="23579"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80"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81"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sp>
            <p:nvSpPr>
              <p:cNvPr id="23574" name="Line 10"/>
              <p:cNvSpPr>
                <a:spLocks noChangeShapeType="1"/>
              </p:cNvSpPr>
              <p:nvPr/>
            </p:nvSpPr>
            <p:spPr bwMode="auto">
              <a:xfrm>
                <a:off x="2631" y="2805"/>
                <a:ext cx="768" cy="0"/>
              </a:xfrm>
              <a:prstGeom prst="line">
                <a:avLst/>
              </a:prstGeom>
              <a:noFill/>
              <a:ln w="38100">
                <a:solidFill>
                  <a:srgbClr val="000000"/>
                </a:solidFill>
                <a:round/>
                <a:headEnd/>
                <a:tailEnd/>
              </a:ln>
            </p:spPr>
            <p:txBody>
              <a:bodyPr anchor="b"/>
              <a:lstStyle/>
              <a:p>
                <a:endParaRPr lang="en-US" dirty="0"/>
              </a:p>
            </p:txBody>
          </p:sp>
          <p:grpSp>
            <p:nvGrpSpPr>
              <p:cNvPr id="5" name="Group 11"/>
              <p:cNvGrpSpPr>
                <a:grpSpLocks/>
              </p:cNvGrpSpPr>
              <p:nvPr/>
            </p:nvGrpSpPr>
            <p:grpSpPr bwMode="auto">
              <a:xfrm>
                <a:off x="1008" y="2448"/>
                <a:ext cx="1008" cy="144"/>
                <a:chOff x="1200" y="2448"/>
                <a:chExt cx="816" cy="144"/>
              </a:xfrm>
            </p:grpSpPr>
            <p:sp>
              <p:nvSpPr>
                <p:cNvPr id="23576"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77"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78"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3571" name="Oval 15"/>
            <p:cNvSpPr>
              <a:spLocks noChangeArrowheads="1"/>
            </p:cNvSpPr>
            <p:nvPr/>
          </p:nvSpPr>
          <p:spPr bwMode="auto">
            <a:xfrm>
              <a:off x="513" y="2196"/>
              <a:ext cx="1956" cy="912"/>
            </a:xfrm>
            <a:prstGeom prst="ellipse">
              <a:avLst/>
            </a:prstGeom>
            <a:noFill/>
            <a:ln w="28575">
              <a:solidFill>
                <a:schemeClr val="tx2"/>
              </a:solidFill>
              <a:round/>
              <a:headEnd/>
              <a:tailEnd/>
            </a:ln>
          </p:spPr>
          <p:txBody>
            <a:bodyPr wrap="none" anchor="ctr"/>
            <a:lstStyle/>
            <a:p>
              <a:endParaRPr lang="en-US" dirty="0"/>
            </a:p>
          </p:txBody>
        </p:sp>
        <p:sp>
          <p:nvSpPr>
            <p:cNvPr id="23572" name="Oval 16"/>
            <p:cNvSpPr>
              <a:spLocks noChangeArrowheads="1"/>
            </p:cNvSpPr>
            <p:nvPr/>
          </p:nvSpPr>
          <p:spPr bwMode="auto">
            <a:xfrm>
              <a:off x="2571" y="2274"/>
              <a:ext cx="2091" cy="912"/>
            </a:xfrm>
            <a:prstGeom prst="ellipse">
              <a:avLst/>
            </a:prstGeom>
            <a:noFill/>
            <a:ln w="28575">
              <a:solidFill>
                <a:schemeClr val="tx2"/>
              </a:solidFill>
              <a:round/>
              <a:headEnd/>
              <a:tailEnd/>
            </a:ln>
          </p:spPr>
          <p:txBody>
            <a:bodyPr wrap="none" anchor="ctr"/>
            <a:lstStyle/>
            <a:p>
              <a:endParaRPr lang="en-US" dirty="0"/>
            </a:p>
          </p:txBody>
        </p:sp>
      </p:grpSp>
      <p:graphicFrame>
        <p:nvGraphicFramePr>
          <p:cNvPr id="258065" name="Object 17"/>
          <p:cNvGraphicFramePr>
            <a:graphicFrameLocks noChangeAspect="1"/>
          </p:cNvGraphicFramePr>
          <p:nvPr/>
        </p:nvGraphicFramePr>
        <p:xfrm>
          <a:off x="4953000" y="1143000"/>
          <a:ext cx="2927350" cy="2438400"/>
        </p:xfrm>
        <a:graphic>
          <a:graphicData uri="http://schemas.openxmlformats.org/presentationml/2006/ole">
            <mc:AlternateContent xmlns:mc="http://schemas.openxmlformats.org/markup-compatibility/2006">
              <mc:Choice xmlns:v="urn:schemas-microsoft-com:vml" Requires="v">
                <p:oleObj name="Worksheet" r:id="rId4" imgW="1665000" imgH="1383840" progId="Excel.Sheet.8">
                  <p:embed/>
                </p:oleObj>
              </mc:Choice>
              <mc:Fallback>
                <p:oleObj name="Worksheet" r:id="rId4" imgW="1665000" imgH="1383840" progId="Excel.Sheet.8">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1143000"/>
                        <a:ext cx="2927350" cy="2438400"/>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6" name="Group 18"/>
          <p:cNvGrpSpPr>
            <a:grpSpLocks/>
          </p:cNvGrpSpPr>
          <p:nvPr/>
        </p:nvGrpSpPr>
        <p:grpSpPr bwMode="auto">
          <a:xfrm>
            <a:off x="4495800" y="3962400"/>
            <a:ext cx="3683000" cy="2430463"/>
            <a:chOff x="2353" y="2537"/>
            <a:chExt cx="2320" cy="1531"/>
          </a:xfrm>
        </p:grpSpPr>
        <p:graphicFrame>
          <p:nvGraphicFramePr>
            <p:cNvPr id="23556" name="Object 19"/>
            <p:cNvGraphicFramePr>
              <a:graphicFrameLocks noChangeAspect="1"/>
            </p:cNvGraphicFramePr>
            <p:nvPr/>
          </p:nvGraphicFramePr>
          <p:xfrm>
            <a:off x="2353" y="2537"/>
            <a:ext cx="2320" cy="1531"/>
          </p:xfrm>
          <a:graphic>
            <a:graphicData uri="http://schemas.openxmlformats.org/presentationml/2006/ole">
              <mc:AlternateContent xmlns:mc="http://schemas.openxmlformats.org/markup-compatibility/2006">
                <mc:Choice xmlns:v="urn:schemas-microsoft-com:vml" Requires="v">
                  <p:oleObj name="Worksheet" r:id="rId6" imgW="2092680" imgH="1383840" progId="Excel.Sheet.8">
                    <p:embed/>
                  </p:oleObj>
                </mc:Choice>
                <mc:Fallback>
                  <p:oleObj name="Worksheet" r:id="rId6" imgW="2092680" imgH="1383840" progId="Excel.Sheet.8">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3" y="2537"/>
                          <a:ext cx="2320" cy="1531"/>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7" name="Group 20"/>
            <p:cNvGrpSpPr>
              <a:grpSpLocks/>
            </p:cNvGrpSpPr>
            <p:nvPr/>
          </p:nvGrpSpPr>
          <p:grpSpPr bwMode="auto">
            <a:xfrm>
              <a:off x="2964" y="2822"/>
              <a:ext cx="1077" cy="147"/>
              <a:chOff x="1200" y="2448"/>
              <a:chExt cx="816" cy="144"/>
            </a:xfrm>
          </p:grpSpPr>
          <p:sp>
            <p:nvSpPr>
              <p:cNvPr id="23567" name="Line 2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68" name="Line 2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69" name="Line 2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8" name="Group 24"/>
          <p:cNvGrpSpPr>
            <a:grpSpLocks/>
          </p:cNvGrpSpPr>
          <p:nvPr/>
        </p:nvGrpSpPr>
        <p:grpSpPr bwMode="auto">
          <a:xfrm>
            <a:off x="914400" y="4043363"/>
            <a:ext cx="2779713" cy="2344737"/>
            <a:chOff x="203" y="2522"/>
            <a:chExt cx="1751" cy="1477"/>
          </a:xfrm>
        </p:grpSpPr>
        <p:graphicFrame>
          <p:nvGraphicFramePr>
            <p:cNvPr id="23555" name="Object 25"/>
            <p:cNvGraphicFramePr>
              <a:graphicFrameLocks noChangeAspect="1"/>
            </p:cNvGraphicFramePr>
            <p:nvPr/>
          </p:nvGraphicFramePr>
          <p:xfrm>
            <a:off x="203" y="2522"/>
            <a:ext cx="1751" cy="1477"/>
          </p:xfrm>
          <a:graphic>
            <a:graphicData uri="http://schemas.openxmlformats.org/presentationml/2006/ole">
              <mc:AlternateContent xmlns:mc="http://schemas.openxmlformats.org/markup-compatibility/2006">
                <mc:Choice xmlns:v="urn:schemas-microsoft-com:vml" Requires="v">
                  <p:oleObj name="Worksheet" r:id="rId8" imgW="1371689" imgH="1171623" progId="Excel.Sheet.8">
                    <p:embed/>
                  </p:oleObj>
                </mc:Choice>
                <mc:Fallback>
                  <p:oleObj name="Worksheet" r:id="rId8" imgW="1371689" imgH="1171623" progId="Excel.Sheet.8">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 y="2522"/>
                          <a:ext cx="1751" cy="1477"/>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9" name="Group 26"/>
            <p:cNvGrpSpPr>
              <a:grpSpLocks/>
            </p:cNvGrpSpPr>
            <p:nvPr/>
          </p:nvGrpSpPr>
          <p:grpSpPr bwMode="auto">
            <a:xfrm>
              <a:off x="541" y="2789"/>
              <a:ext cx="1076" cy="147"/>
              <a:chOff x="1200" y="2448"/>
              <a:chExt cx="816" cy="144"/>
            </a:xfrm>
          </p:grpSpPr>
          <p:sp>
            <p:nvSpPr>
              <p:cNvPr id="23563" name="Line 2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3564" name="Line 2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3565" name="Line 2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58065"/>
                                        </p:tgtEl>
                                        <p:attrNameLst>
                                          <p:attrName>style.visibility</p:attrName>
                                        </p:attrNameLst>
                                      </p:cBhvr>
                                      <p:to>
                                        <p:strVal val="visible"/>
                                      </p:to>
                                    </p:set>
                                    <p:anim calcmode="lin" valueType="num">
                                      <p:cBhvr additive="base">
                                        <p:cTn id="13" dur="500" fill="hold"/>
                                        <p:tgtEl>
                                          <p:spTgt spid="258065"/>
                                        </p:tgtEl>
                                        <p:attrNameLst>
                                          <p:attrName>ppt_x</p:attrName>
                                        </p:attrNameLst>
                                      </p:cBhvr>
                                      <p:tavLst>
                                        <p:tav tm="0">
                                          <p:val>
                                            <p:strVal val="0-#ppt_w/2"/>
                                          </p:val>
                                        </p:tav>
                                        <p:tav tm="100000">
                                          <p:val>
                                            <p:strVal val="#ppt_x"/>
                                          </p:val>
                                        </p:tav>
                                      </p:tavLst>
                                    </p:anim>
                                    <p:anim calcmode="lin" valueType="num">
                                      <p:cBhvr additive="base">
                                        <p:cTn id="14" dur="500" fill="hold"/>
                                        <p:tgtEl>
                                          <p:spTgt spid="25806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533400" y="228600"/>
            <a:ext cx="7467600" cy="838200"/>
          </a:xfrm>
        </p:spPr>
        <p:txBody>
          <a:bodyPr/>
          <a:lstStyle/>
          <a:p>
            <a:r>
              <a:rPr lang="en-US" dirty="0"/>
              <a:t>Bringing a Relation to 3NF</a:t>
            </a:r>
          </a:p>
        </p:txBody>
      </p:sp>
      <p:sp>
        <p:nvSpPr>
          <p:cNvPr id="24580" name="Rectangle 3"/>
          <p:cNvSpPr>
            <a:spLocks noGrp="1" noChangeArrowheads="1"/>
          </p:cNvSpPr>
          <p:nvPr>
            <p:ph type="body" idx="1"/>
          </p:nvPr>
        </p:nvSpPr>
        <p:spPr>
          <a:xfrm>
            <a:off x="685800" y="1858963"/>
            <a:ext cx="8154988" cy="862012"/>
          </a:xfrm>
        </p:spPr>
        <p:txBody>
          <a:bodyPr/>
          <a:lstStyle/>
          <a:p>
            <a:r>
              <a:rPr lang="en-US" dirty="0"/>
              <a:t>Goal: Get rid of transitive dependencies.</a:t>
            </a:r>
          </a:p>
        </p:txBody>
      </p:sp>
      <p:grpSp>
        <p:nvGrpSpPr>
          <p:cNvPr id="2" name="Group 4"/>
          <p:cNvGrpSpPr>
            <a:grpSpLocks/>
          </p:cNvGrpSpPr>
          <p:nvPr/>
        </p:nvGrpSpPr>
        <p:grpSpPr bwMode="auto">
          <a:xfrm>
            <a:off x="685800" y="3533775"/>
            <a:ext cx="7629525" cy="2062163"/>
            <a:chOff x="486" y="2352"/>
            <a:chExt cx="4752" cy="1218"/>
          </a:xfrm>
        </p:grpSpPr>
        <p:graphicFrame>
          <p:nvGraphicFramePr>
            <p:cNvPr id="24578" name="Object 5"/>
            <p:cNvGraphicFramePr>
              <a:graphicFrameLocks noChangeAspect="1"/>
            </p:cNvGraphicFramePr>
            <p:nvPr/>
          </p:nvGraphicFramePr>
          <p:xfrm>
            <a:off x="486" y="2352"/>
            <a:ext cx="4752" cy="1218"/>
          </p:xfrm>
          <a:graphic>
            <a:graphicData uri="http://schemas.openxmlformats.org/presentationml/2006/ole">
              <mc:AlternateContent xmlns:mc="http://schemas.openxmlformats.org/markup-compatibility/2006">
                <mc:Choice xmlns:v="urn:schemas-microsoft-com:vml" Requires="v">
                  <p:oleObj name="Worksheet" r:id="rId2" imgW="3752757" imgH="961937" progId="Excel.Sheet.8">
                    <p:embed/>
                  </p:oleObj>
                </mc:Choice>
                <mc:Fallback>
                  <p:oleObj name="Worksheet" r:id="rId2" imgW="3752757" imgH="961937" progId="Excel.Shee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 y="2352"/>
                          <a:ext cx="4752" cy="121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6"/>
            <p:cNvGrpSpPr>
              <a:grpSpLocks/>
            </p:cNvGrpSpPr>
            <p:nvPr/>
          </p:nvGrpSpPr>
          <p:grpSpPr bwMode="auto">
            <a:xfrm>
              <a:off x="870" y="2592"/>
              <a:ext cx="2736" cy="192"/>
              <a:chOff x="816" y="2592"/>
              <a:chExt cx="2736" cy="192"/>
            </a:xfrm>
          </p:grpSpPr>
          <p:grpSp>
            <p:nvGrpSpPr>
              <p:cNvPr id="4" name="Group 7"/>
              <p:cNvGrpSpPr>
                <a:grpSpLocks/>
              </p:cNvGrpSpPr>
              <p:nvPr/>
            </p:nvGrpSpPr>
            <p:grpSpPr bwMode="auto">
              <a:xfrm>
                <a:off x="816" y="2592"/>
                <a:ext cx="1008" cy="192"/>
                <a:chOff x="1200" y="2448"/>
                <a:chExt cx="816" cy="144"/>
              </a:xfrm>
            </p:grpSpPr>
            <p:sp>
              <p:nvSpPr>
                <p:cNvPr id="24598" name="Line 8"/>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9" name="Line 9"/>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600" name="Line 10"/>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1"/>
              <p:cNvGrpSpPr>
                <a:grpSpLocks/>
              </p:cNvGrpSpPr>
              <p:nvPr/>
            </p:nvGrpSpPr>
            <p:grpSpPr bwMode="auto">
              <a:xfrm>
                <a:off x="2832" y="2592"/>
                <a:ext cx="720" cy="192"/>
                <a:chOff x="1200" y="2448"/>
                <a:chExt cx="816" cy="144"/>
              </a:xfrm>
            </p:grpSpPr>
            <p:sp>
              <p:nvSpPr>
                <p:cNvPr id="24595" name="Line 1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6" name="Line 1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97" name="Line 1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5"/>
              <p:cNvGrpSpPr>
                <a:grpSpLocks/>
              </p:cNvGrpSpPr>
              <p:nvPr/>
            </p:nvGrpSpPr>
            <p:grpSpPr bwMode="auto">
              <a:xfrm>
                <a:off x="1824" y="2592"/>
                <a:ext cx="1008" cy="192"/>
                <a:chOff x="1200" y="2448"/>
                <a:chExt cx="816" cy="144"/>
              </a:xfrm>
            </p:grpSpPr>
            <p:sp>
              <p:nvSpPr>
                <p:cNvPr id="24592" name="Line 16"/>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93" name="Line 17"/>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94" name="Line 18"/>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7" name="Group 19"/>
            <p:cNvGrpSpPr>
              <a:grpSpLocks/>
            </p:cNvGrpSpPr>
            <p:nvPr/>
          </p:nvGrpSpPr>
          <p:grpSpPr bwMode="auto">
            <a:xfrm>
              <a:off x="3894" y="2592"/>
              <a:ext cx="768" cy="192"/>
              <a:chOff x="1200" y="2448"/>
              <a:chExt cx="816" cy="144"/>
            </a:xfrm>
          </p:grpSpPr>
          <p:sp>
            <p:nvSpPr>
              <p:cNvPr id="24586" name="Line 20"/>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4587" name="Line 21"/>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4588" name="Line 22"/>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59095" name="Oval 23"/>
          <p:cNvSpPr>
            <a:spLocks noChangeArrowheads="1"/>
          </p:cNvSpPr>
          <p:nvPr/>
        </p:nvSpPr>
        <p:spPr bwMode="auto">
          <a:xfrm>
            <a:off x="5805488" y="3524250"/>
            <a:ext cx="1981200" cy="914400"/>
          </a:xfrm>
          <a:prstGeom prst="ellipse">
            <a:avLst/>
          </a:prstGeom>
          <a:noFill/>
          <a:ln w="28575">
            <a:solidFill>
              <a:schemeClr val="tx2"/>
            </a:solidFill>
            <a:round/>
            <a:headEnd/>
            <a:tailEnd/>
          </a:ln>
        </p:spPr>
        <p:txBody>
          <a:bodyPr wrap="none" anchor="ctr"/>
          <a:lstStyle/>
          <a:p>
            <a:endParaRPr lang="en-US" dirty="0"/>
          </a:p>
        </p:txBody>
      </p:sp>
      <p:sp>
        <p:nvSpPr>
          <p:cNvPr id="259096" name="AutoShape 24"/>
          <p:cNvSpPr>
            <a:spLocks noChangeArrowheads="1"/>
          </p:cNvSpPr>
          <p:nvPr/>
        </p:nvSpPr>
        <p:spPr bwMode="auto">
          <a:xfrm>
            <a:off x="3386138" y="2800350"/>
            <a:ext cx="3186112" cy="809625"/>
          </a:xfrm>
          <a:prstGeom prst="wedgeEllipseCallout">
            <a:avLst>
              <a:gd name="adj1" fmla="val 30120"/>
              <a:gd name="adj2" fmla="val 61176"/>
            </a:avLst>
          </a:prstGeom>
          <a:solidFill>
            <a:schemeClr val="bg2">
              <a:alpha val="50195"/>
            </a:schemeClr>
          </a:solidFill>
          <a:ln w="12700">
            <a:solidFill>
              <a:schemeClr val="tx2"/>
            </a:solidFill>
            <a:miter lim="800000"/>
            <a:headEnd/>
            <a:tailEnd/>
          </a:ln>
        </p:spPr>
        <p:txBody>
          <a:bodyPr anchor="b"/>
          <a:lstStyle/>
          <a:p>
            <a:pPr algn="ctr" eaLnBrk="1" hangingPunct="1"/>
            <a:r>
              <a:rPr lang="en-US" sz="1800" b="1" dirty="0">
                <a:solidFill>
                  <a:schemeClr val="tx2"/>
                </a:solidFill>
              </a:rPr>
              <a:t>Transitive Dependency</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9095"/>
                                        </p:tgtEl>
                                        <p:attrNameLst>
                                          <p:attrName>style.visibility</p:attrName>
                                        </p:attrNameLst>
                                      </p:cBhvr>
                                      <p:to>
                                        <p:strVal val="visible"/>
                                      </p:to>
                                    </p:set>
                                    <p:anim calcmode="lin" valueType="num">
                                      <p:cBhvr additive="base">
                                        <p:cTn id="13" dur="500" fill="hold"/>
                                        <p:tgtEl>
                                          <p:spTgt spid="259095"/>
                                        </p:tgtEl>
                                        <p:attrNameLst>
                                          <p:attrName>ppt_x</p:attrName>
                                        </p:attrNameLst>
                                      </p:cBhvr>
                                      <p:tavLst>
                                        <p:tav tm="0">
                                          <p:val>
                                            <p:strVal val="0-#ppt_w/2"/>
                                          </p:val>
                                        </p:tav>
                                        <p:tav tm="100000">
                                          <p:val>
                                            <p:strVal val="#ppt_x"/>
                                          </p:val>
                                        </p:tav>
                                      </p:tavLst>
                                    </p:anim>
                                    <p:anim calcmode="lin" valueType="num">
                                      <p:cBhvr additive="base">
                                        <p:cTn id="14" dur="500" fill="hold"/>
                                        <p:tgtEl>
                                          <p:spTgt spid="25909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9096"/>
                                        </p:tgtEl>
                                        <p:attrNameLst>
                                          <p:attrName>style.visibility</p:attrName>
                                        </p:attrNameLst>
                                      </p:cBhvr>
                                      <p:to>
                                        <p:strVal val="visible"/>
                                      </p:to>
                                    </p:set>
                                    <p:anim calcmode="lin" valueType="num">
                                      <p:cBhvr additive="base">
                                        <p:cTn id="19" dur="500" fill="hold"/>
                                        <p:tgtEl>
                                          <p:spTgt spid="259096"/>
                                        </p:tgtEl>
                                        <p:attrNameLst>
                                          <p:attrName>ppt_x</p:attrName>
                                        </p:attrNameLst>
                                      </p:cBhvr>
                                      <p:tavLst>
                                        <p:tav tm="0">
                                          <p:val>
                                            <p:strVal val="0-#ppt_w/2"/>
                                          </p:val>
                                        </p:tav>
                                        <p:tav tm="100000">
                                          <p:val>
                                            <p:strVal val="#ppt_x"/>
                                          </p:val>
                                        </p:tav>
                                      </p:tavLst>
                                    </p:anim>
                                    <p:anim calcmode="lin" valueType="num">
                                      <p:cBhvr additive="base">
                                        <p:cTn id="20" dur="500" fill="hold"/>
                                        <p:tgtEl>
                                          <p:spTgt spid="2590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95" grpId="0" animBg="1"/>
      <p:bldP spid="259096"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85800" y="228600"/>
            <a:ext cx="7239000" cy="838200"/>
          </a:xfrm>
        </p:spPr>
        <p:txBody>
          <a:bodyPr/>
          <a:lstStyle/>
          <a:p>
            <a:r>
              <a:rPr lang="en-US" dirty="0"/>
              <a:t>Bringing a Relation to 3NF</a:t>
            </a:r>
          </a:p>
        </p:txBody>
      </p:sp>
      <p:sp>
        <p:nvSpPr>
          <p:cNvPr id="25604" name="Rectangle 3"/>
          <p:cNvSpPr>
            <a:spLocks noGrp="1" noChangeArrowheads="1"/>
          </p:cNvSpPr>
          <p:nvPr>
            <p:ph type="body" idx="1"/>
          </p:nvPr>
        </p:nvSpPr>
        <p:spPr>
          <a:xfrm>
            <a:off x="685800" y="1371600"/>
            <a:ext cx="7696200" cy="2362200"/>
          </a:xfrm>
        </p:spPr>
        <p:txBody>
          <a:bodyPr/>
          <a:lstStyle/>
          <a:p>
            <a:pPr>
              <a:lnSpc>
                <a:spcPct val="90000"/>
              </a:lnSpc>
            </a:pPr>
            <a:r>
              <a:rPr lang="en-US" sz="2400" dirty="0"/>
              <a:t>Remove the attributes, which are dependent on a non-key attribute, from the original relation. For each transitive dependency, create a new relation with the non-key attribute which is a determinant in the transitive dependency as a primary key, and the dependent non-key attribute as a dependent. </a:t>
            </a:r>
          </a:p>
        </p:txBody>
      </p:sp>
      <p:grpSp>
        <p:nvGrpSpPr>
          <p:cNvPr id="2" name="Group 4"/>
          <p:cNvGrpSpPr>
            <a:grpSpLocks/>
          </p:cNvGrpSpPr>
          <p:nvPr/>
        </p:nvGrpSpPr>
        <p:grpSpPr bwMode="auto">
          <a:xfrm>
            <a:off x="700088" y="3738563"/>
            <a:ext cx="7629525" cy="2071687"/>
            <a:chOff x="441" y="2355"/>
            <a:chExt cx="4806" cy="1305"/>
          </a:xfrm>
        </p:grpSpPr>
        <p:grpSp>
          <p:nvGrpSpPr>
            <p:cNvPr id="3" name="Group 5"/>
            <p:cNvGrpSpPr>
              <a:grpSpLocks/>
            </p:cNvGrpSpPr>
            <p:nvPr/>
          </p:nvGrpSpPr>
          <p:grpSpPr bwMode="auto">
            <a:xfrm>
              <a:off x="441" y="2361"/>
              <a:ext cx="4806" cy="1299"/>
              <a:chOff x="486" y="2352"/>
              <a:chExt cx="4752" cy="1218"/>
            </a:xfrm>
          </p:grpSpPr>
          <p:graphicFrame>
            <p:nvGraphicFramePr>
              <p:cNvPr id="25602" name="Object 6"/>
              <p:cNvGraphicFramePr>
                <a:graphicFrameLocks noChangeAspect="1"/>
              </p:cNvGraphicFramePr>
              <p:nvPr/>
            </p:nvGraphicFramePr>
            <p:xfrm>
              <a:off x="486" y="2352"/>
              <a:ext cx="4752" cy="1218"/>
            </p:xfrm>
            <a:graphic>
              <a:graphicData uri="http://schemas.openxmlformats.org/presentationml/2006/ole">
                <mc:AlternateContent xmlns:mc="http://schemas.openxmlformats.org/markup-compatibility/2006">
                  <mc:Choice xmlns:v="urn:schemas-microsoft-com:vml" Requires="v">
                    <p:oleObj name="Worksheet" r:id="rId2" imgW="3752757" imgH="961937" progId="Excel.Sheet.8">
                      <p:embed/>
                    </p:oleObj>
                  </mc:Choice>
                  <mc:Fallback>
                    <p:oleObj name="Worksheet" r:id="rId2" imgW="3752757" imgH="961937" progId="Excel.Shee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 y="2352"/>
                            <a:ext cx="4752" cy="121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4" name="Group 7"/>
              <p:cNvGrpSpPr>
                <a:grpSpLocks/>
              </p:cNvGrpSpPr>
              <p:nvPr/>
            </p:nvGrpSpPr>
            <p:grpSpPr bwMode="auto">
              <a:xfrm>
                <a:off x="870" y="2592"/>
                <a:ext cx="2736" cy="192"/>
                <a:chOff x="816" y="2592"/>
                <a:chExt cx="2736" cy="192"/>
              </a:xfrm>
            </p:grpSpPr>
            <p:grpSp>
              <p:nvGrpSpPr>
                <p:cNvPr id="5" name="Group 8"/>
                <p:cNvGrpSpPr>
                  <a:grpSpLocks/>
                </p:cNvGrpSpPr>
                <p:nvPr/>
              </p:nvGrpSpPr>
              <p:grpSpPr bwMode="auto">
                <a:xfrm>
                  <a:off x="816" y="2592"/>
                  <a:ext cx="1008" cy="192"/>
                  <a:chOff x="1200" y="2448"/>
                  <a:chExt cx="816" cy="144"/>
                </a:xfrm>
              </p:grpSpPr>
              <p:sp>
                <p:nvSpPr>
                  <p:cNvPr id="25622" name="Line 9"/>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23" name="Line 10"/>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24" name="Line 11"/>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2"/>
                <p:cNvGrpSpPr>
                  <a:grpSpLocks/>
                </p:cNvGrpSpPr>
                <p:nvPr/>
              </p:nvGrpSpPr>
              <p:grpSpPr bwMode="auto">
                <a:xfrm>
                  <a:off x="2832" y="2592"/>
                  <a:ext cx="720" cy="192"/>
                  <a:chOff x="1200" y="2448"/>
                  <a:chExt cx="816" cy="144"/>
                </a:xfrm>
              </p:grpSpPr>
              <p:sp>
                <p:nvSpPr>
                  <p:cNvPr id="25619" name="Line 13"/>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20" name="Line 14"/>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21" name="Line 15"/>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7" name="Group 16"/>
                <p:cNvGrpSpPr>
                  <a:grpSpLocks/>
                </p:cNvGrpSpPr>
                <p:nvPr/>
              </p:nvGrpSpPr>
              <p:grpSpPr bwMode="auto">
                <a:xfrm>
                  <a:off x="1824" y="2592"/>
                  <a:ext cx="1008" cy="192"/>
                  <a:chOff x="1200" y="2448"/>
                  <a:chExt cx="816" cy="144"/>
                </a:xfrm>
              </p:grpSpPr>
              <p:sp>
                <p:nvSpPr>
                  <p:cNvPr id="25616" name="Line 1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17" name="Line 1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18" name="Line 1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8" name="Group 20"/>
              <p:cNvGrpSpPr>
                <a:grpSpLocks/>
              </p:cNvGrpSpPr>
              <p:nvPr/>
            </p:nvGrpSpPr>
            <p:grpSpPr bwMode="auto">
              <a:xfrm>
                <a:off x="3894" y="2592"/>
                <a:ext cx="768" cy="192"/>
                <a:chOff x="1200" y="2448"/>
                <a:chExt cx="816" cy="144"/>
              </a:xfrm>
            </p:grpSpPr>
            <p:sp>
              <p:nvSpPr>
                <p:cNvPr id="25610" name="Line 2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5611" name="Line 2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5612" name="Line 2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5607" name="Oval 24"/>
            <p:cNvSpPr>
              <a:spLocks noChangeArrowheads="1"/>
            </p:cNvSpPr>
            <p:nvPr/>
          </p:nvSpPr>
          <p:spPr bwMode="auto">
            <a:xfrm>
              <a:off x="3666" y="2355"/>
              <a:ext cx="1248" cy="576"/>
            </a:xfrm>
            <a:prstGeom prst="ellipse">
              <a:avLst/>
            </a:prstGeom>
            <a:noFill/>
            <a:ln w="28575">
              <a:solidFill>
                <a:schemeClr val="tx2"/>
              </a:solidFill>
              <a:round/>
              <a:headEnd/>
              <a:tailEnd/>
            </a:ln>
          </p:spPr>
          <p:txBody>
            <a:bodyPr wrap="none" anchor="ctr"/>
            <a:lstStyle/>
            <a:p>
              <a:endParaRPr lang="en-US" dirty="0"/>
            </a:p>
          </p:txBody>
        </p:sp>
      </p:grpSp>
    </p:spTree>
  </p:cSld>
  <p:clrMapOvr>
    <a:masterClrMapping/>
  </p:clrMapOvr>
  <p:transition>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a:xfrm>
            <a:off x="485775" y="152400"/>
            <a:ext cx="7772400" cy="762000"/>
          </a:xfrm>
        </p:spPr>
        <p:txBody>
          <a:bodyPr/>
          <a:lstStyle/>
          <a:p>
            <a:r>
              <a:rPr lang="en-US" dirty="0"/>
              <a:t>Bringing a Relation to 3NF</a:t>
            </a:r>
          </a:p>
        </p:txBody>
      </p:sp>
      <p:grpSp>
        <p:nvGrpSpPr>
          <p:cNvPr id="2" name="Group 3"/>
          <p:cNvGrpSpPr>
            <a:grpSpLocks/>
          </p:cNvGrpSpPr>
          <p:nvPr/>
        </p:nvGrpSpPr>
        <p:grpSpPr bwMode="auto">
          <a:xfrm>
            <a:off x="1676400" y="2133600"/>
            <a:ext cx="5872163" cy="1947863"/>
            <a:chOff x="555" y="2803"/>
            <a:chExt cx="3699" cy="1227"/>
          </a:xfrm>
        </p:grpSpPr>
        <p:graphicFrame>
          <p:nvGraphicFramePr>
            <p:cNvPr id="26628" name="Object 4"/>
            <p:cNvGraphicFramePr>
              <a:graphicFrameLocks noChangeAspect="1"/>
            </p:cNvGraphicFramePr>
            <p:nvPr/>
          </p:nvGraphicFramePr>
          <p:xfrm>
            <a:off x="555" y="2803"/>
            <a:ext cx="3699" cy="1227"/>
          </p:xfrm>
          <a:graphic>
            <a:graphicData uri="http://schemas.openxmlformats.org/presentationml/2006/ole">
              <mc:AlternateContent xmlns:mc="http://schemas.openxmlformats.org/markup-compatibility/2006">
                <mc:Choice xmlns:v="urn:schemas-microsoft-com:vml" Requires="v">
                  <p:oleObj name="Worksheet" r:id="rId2" imgW="2895630" imgH="961937" progId="Excel.Sheet.8">
                    <p:embed/>
                  </p:oleObj>
                </mc:Choice>
                <mc:Fallback>
                  <p:oleObj name="Worksheet" r:id="rId2" imgW="2895630" imgH="961937" progId="Excel.Shee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 y="2803"/>
                          <a:ext cx="3699" cy="1227"/>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3" name="Group 5"/>
            <p:cNvGrpSpPr>
              <a:grpSpLocks/>
            </p:cNvGrpSpPr>
            <p:nvPr/>
          </p:nvGrpSpPr>
          <p:grpSpPr bwMode="auto">
            <a:xfrm>
              <a:off x="943" y="3055"/>
              <a:ext cx="2767" cy="205"/>
              <a:chOff x="816" y="2592"/>
              <a:chExt cx="2736" cy="192"/>
            </a:xfrm>
          </p:grpSpPr>
          <p:grpSp>
            <p:nvGrpSpPr>
              <p:cNvPr id="4" name="Group 6"/>
              <p:cNvGrpSpPr>
                <a:grpSpLocks/>
              </p:cNvGrpSpPr>
              <p:nvPr/>
            </p:nvGrpSpPr>
            <p:grpSpPr bwMode="auto">
              <a:xfrm>
                <a:off x="816" y="2592"/>
                <a:ext cx="1008" cy="192"/>
                <a:chOff x="1200" y="2448"/>
                <a:chExt cx="816" cy="144"/>
              </a:xfrm>
            </p:grpSpPr>
            <p:sp>
              <p:nvSpPr>
                <p:cNvPr id="26666" name="Line 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7" name="Line 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8" name="Line 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5" name="Group 10"/>
              <p:cNvGrpSpPr>
                <a:grpSpLocks/>
              </p:cNvGrpSpPr>
              <p:nvPr/>
            </p:nvGrpSpPr>
            <p:grpSpPr bwMode="auto">
              <a:xfrm>
                <a:off x="2832" y="2592"/>
                <a:ext cx="720" cy="192"/>
                <a:chOff x="1200" y="2448"/>
                <a:chExt cx="816" cy="144"/>
              </a:xfrm>
            </p:grpSpPr>
            <p:sp>
              <p:nvSpPr>
                <p:cNvPr id="26663" name="Line 1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4" name="Line 1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5" name="Line 1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6" name="Group 14"/>
              <p:cNvGrpSpPr>
                <a:grpSpLocks/>
              </p:cNvGrpSpPr>
              <p:nvPr/>
            </p:nvGrpSpPr>
            <p:grpSpPr bwMode="auto">
              <a:xfrm>
                <a:off x="1824" y="2592"/>
                <a:ext cx="1008" cy="192"/>
                <a:chOff x="1200" y="2448"/>
                <a:chExt cx="816" cy="144"/>
              </a:xfrm>
            </p:grpSpPr>
            <p:sp>
              <p:nvSpPr>
                <p:cNvPr id="26660" name="Line 1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61" name="Line 1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62" name="Line 1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grpSp>
        <p:nvGrpSpPr>
          <p:cNvPr id="7" name="Group 18"/>
          <p:cNvGrpSpPr>
            <a:grpSpLocks/>
          </p:cNvGrpSpPr>
          <p:nvPr/>
        </p:nvGrpSpPr>
        <p:grpSpPr bwMode="auto">
          <a:xfrm>
            <a:off x="533400" y="990600"/>
            <a:ext cx="3186113" cy="990600"/>
            <a:chOff x="414" y="993"/>
            <a:chExt cx="4806" cy="1299"/>
          </a:xfrm>
        </p:grpSpPr>
        <p:grpSp>
          <p:nvGrpSpPr>
            <p:cNvPr id="8" name="Group 19"/>
            <p:cNvGrpSpPr>
              <a:grpSpLocks/>
            </p:cNvGrpSpPr>
            <p:nvPr/>
          </p:nvGrpSpPr>
          <p:grpSpPr bwMode="auto">
            <a:xfrm>
              <a:off x="414" y="993"/>
              <a:ext cx="4806" cy="1299"/>
              <a:chOff x="486" y="2352"/>
              <a:chExt cx="4752" cy="1218"/>
            </a:xfrm>
          </p:grpSpPr>
          <p:graphicFrame>
            <p:nvGraphicFramePr>
              <p:cNvPr id="26627" name="Object 20"/>
              <p:cNvGraphicFramePr>
                <a:graphicFrameLocks noChangeAspect="1"/>
              </p:cNvGraphicFramePr>
              <p:nvPr/>
            </p:nvGraphicFramePr>
            <p:xfrm>
              <a:off x="486" y="2352"/>
              <a:ext cx="4752" cy="1218"/>
            </p:xfrm>
            <a:graphic>
              <a:graphicData uri="http://schemas.openxmlformats.org/presentationml/2006/ole">
                <mc:AlternateContent xmlns:mc="http://schemas.openxmlformats.org/markup-compatibility/2006">
                  <mc:Choice xmlns:v="urn:schemas-microsoft-com:vml" Requires="v">
                    <p:oleObj name="Worksheet" r:id="rId4" imgW="3752757" imgH="961937" progId="Excel.Sheet.8">
                      <p:embed/>
                    </p:oleObj>
                  </mc:Choice>
                  <mc:Fallback>
                    <p:oleObj name="Worksheet" r:id="rId4" imgW="3752757" imgH="961937" progId="Excel.Sheet.8">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 y="2352"/>
                            <a:ext cx="4752" cy="1218"/>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9" name="Group 21"/>
              <p:cNvGrpSpPr>
                <a:grpSpLocks/>
              </p:cNvGrpSpPr>
              <p:nvPr/>
            </p:nvGrpSpPr>
            <p:grpSpPr bwMode="auto">
              <a:xfrm>
                <a:off x="870" y="2592"/>
                <a:ext cx="2736" cy="192"/>
                <a:chOff x="816" y="2592"/>
                <a:chExt cx="2736" cy="192"/>
              </a:xfrm>
            </p:grpSpPr>
            <p:grpSp>
              <p:nvGrpSpPr>
                <p:cNvPr id="10" name="Group 22"/>
                <p:cNvGrpSpPr>
                  <a:grpSpLocks/>
                </p:cNvGrpSpPr>
                <p:nvPr/>
              </p:nvGrpSpPr>
              <p:grpSpPr bwMode="auto">
                <a:xfrm>
                  <a:off x="816" y="2592"/>
                  <a:ext cx="1008" cy="192"/>
                  <a:chOff x="1200" y="2448"/>
                  <a:chExt cx="816" cy="144"/>
                </a:xfrm>
              </p:grpSpPr>
              <p:sp>
                <p:nvSpPr>
                  <p:cNvPr id="26653" name="Line 23"/>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54" name="Line 24"/>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55" name="Line 25"/>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11" name="Group 26"/>
                <p:cNvGrpSpPr>
                  <a:grpSpLocks/>
                </p:cNvGrpSpPr>
                <p:nvPr/>
              </p:nvGrpSpPr>
              <p:grpSpPr bwMode="auto">
                <a:xfrm>
                  <a:off x="2832" y="2592"/>
                  <a:ext cx="720" cy="192"/>
                  <a:chOff x="1200" y="2448"/>
                  <a:chExt cx="816" cy="144"/>
                </a:xfrm>
              </p:grpSpPr>
              <p:sp>
                <p:nvSpPr>
                  <p:cNvPr id="26650" name="Line 27"/>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51" name="Line 28"/>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52" name="Line 29"/>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nvGrpSpPr>
                <p:cNvPr id="12" name="Group 30"/>
                <p:cNvGrpSpPr>
                  <a:grpSpLocks/>
                </p:cNvGrpSpPr>
                <p:nvPr/>
              </p:nvGrpSpPr>
              <p:grpSpPr bwMode="auto">
                <a:xfrm>
                  <a:off x="1824" y="2592"/>
                  <a:ext cx="1008" cy="192"/>
                  <a:chOff x="1200" y="2448"/>
                  <a:chExt cx="816" cy="144"/>
                </a:xfrm>
              </p:grpSpPr>
              <p:sp>
                <p:nvSpPr>
                  <p:cNvPr id="26647" name="Line 31"/>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48" name="Line 32"/>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49" name="Line 33"/>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grpSp>
            <p:nvGrpSpPr>
              <p:cNvPr id="13" name="Group 34"/>
              <p:cNvGrpSpPr>
                <a:grpSpLocks/>
              </p:cNvGrpSpPr>
              <p:nvPr/>
            </p:nvGrpSpPr>
            <p:grpSpPr bwMode="auto">
              <a:xfrm>
                <a:off x="3894" y="2592"/>
                <a:ext cx="768" cy="192"/>
                <a:chOff x="1200" y="2448"/>
                <a:chExt cx="816" cy="144"/>
              </a:xfrm>
            </p:grpSpPr>
            <p:sp>
              <p:nvSpPr>
                <p:cNvPr id="26641" name="Line 35"/>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42" name="Line 36"/>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43" name="Line 37"/>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
          <p:nvSpPr>
            <p:cNvPr id="26638" name="Oval 38"/>
            <p:cNvSpPr>
              <a:spLocks noChangeArrowheads="1"/>
            </p:cNvSpPr>
            <p:nvPr/>
          </p:nvSpPr>
          <p:spPr bwMode="auto">
            <a:xfrm>
              <a:off x="3621" y="1059"/>
              <a:ext cx="1248" cy="576"/>
            </a:xfrm>
            <a:prstGeom prst="ellipse">
              <a:avLst/>
            </a:prstGeom>
            <a:noFill/>
            <a:ln w="28575">
              <a:solidFill>
                <a:schemeClr val="tx2"/>
              </a:solidFill>
              <a:round/>
              <a:headEnd/>
              <a:tailEnd/>
            </a:ln>
          </p:spPr>
          <p:txBody>
            <a:bodyPr wrap="none" anchor="ctr"/>
            <a:lstStyle/>
            <a:p>
              <a:endParaRPr lang="en-US" dirty="0"/>
            </a:p>
          </p:txBody>
        </p:sp>
      </p:grpSp>
      <p:grpSp>
        <p:nvGrpSpPr>
          <p:cNvPr id="14" name="Group 39"/>
          <p:cNvGrpSpPr>
            <a:grpSpLocks/>
          </p:cNvGrpSpPr>
          <p:nvPr/>
        </p:nvGrpSpPr>
        <p:grpSpPr bwMode="auto">
          <a:xfrm>
            <a:off x="2971800" y="4267200"/>
            <a:ext cx="2997200" cy="1960563"/>
            <a:chOff x="3391" y="2786"/>
            <a:chExt cx="1888" cy="1235"/>
          </a:xfrm>
        </p:grpSpPr>
        <p:graphicFrame>
          <p:nvGraphicFramePr>
            <p:cNvPr id="26626" name="Object 40"/>
            <p:cNvGraphicFramePr>
              <a:graphicFrameLocks noChangeAspect="1"/>
            </p:cNvGraphicFramePr>
            <p:nvPr/>
          </p:nvGraphicFramePr>
          <p:xfrm>
            <a:off x="3391" y="2786"/>
            <a:ext cx="1888" cy="1235"/>
          </p:xfrm>
          <a:graphic>
            <a:graphicData uri="http://schemas.openxmlformats.org/presentationml/2006/ole">
              <mc:AlternateContent xmlns:mc="http://schemas.openxmlformats.org/markup-compatibility/2006">
                <mc:Choice xmlns:v="urn:schemas-microsoft-com:vml" Requires="v">
                  <p:oleObj name="Worksheet" r:id="rId6" imgW="1743840" imgH="1068840" progId="Excel.Sheet.8">
                    <p:embed/>
                  </p:oleObj>
                </mc:Choice>
                <mc:Fallback>
                  <p:oleObj name="Worksheet" r:id="rId6" imgW="1743840" imgH="1068840" progId="Excel.Sheet.8">
                    <p:embed/>
                    <p:pic>
                      <p:nvPicPr>
                        <p:cNvPr id="0" name="Object 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1" y="2786"/>
                          <a:ext cx="1888" cy="1235"/>
                        </a:xfrm>
                        <a:prstGeom prst="rect">
                          <a:avLst/>
                        </a:prstGeom>
                        <a:noFill/>
                        <a:ln>
                          <a:noFill/>
                        </a:ln>
                        <a:effectLst/>
                        <a:extLst>
                          <a:ext uri="{909E8E84-426E-40DD-AFC4-6F175D3DCCD1}">
                            <a14:hiddenFill xmlns:a14="http://schemas.microsoft.com/office/drawing/2010/main">
                              <a:solidFill>
                                <a:srgbClr val="B2B2B2">
                                  <a:alpha val="50000"/>
                                </a:srgbClr>
                              </a:solidFill>
                            </a14:hiddenFill>
                          </a:ext>
                          <a:ext uri="{91240B29-F687-4F45-9708-019B960494DF}">
                            <a14:hiddenLine xmlns:a14="http://schemas.microsoft.com/office/drawing/2010/main" w="12700">
                              <a:solidFill>
                                <a:srgbClr val="3333CC"/>
                              </a:solidFill>
                              <a:miter lim="800000"/>
                              <a:headEnd/>
                              <a:tailEnd/>
                            </a14:hiddenLine>
                          </a:ext>
                          <a:ext uri="{AF507438-7753-43E0-B8FC-AC1667EBCBE1}">
                            <a14:hiddenEffects xmlns:a14="http://schemas.microsoft.com/office/drawing/2010/main">
                              <a:effectLst>
                                <a:outerShdw dist="45791" dir="2021404" algn="ctr" rotWithShape="0">
                                  <a:srgbClr val="9999FF"/>
                                </a:outerShdw>
                              </a:effectLst>
                            </a14:hiddenEffects>
                          </a:ext>
                        </a:extLst>
                      </p:spPr>
                    </p:pic>
                  </p:oleObj>
                </mc:Fallback>
              </mc:AlternateContent>
            </a:graphicData>
          </a:graphic>
        </p:graphicFrame>
        <p:grpSp>
          <p:nvGrpSpPr>
            <p:cNvPr id="15" name="Group 41"/>
            <p:cNvGrpSpPr>
              <a:grpSpLocks/>
            </p:cNvGrpSpPr>
            <p:nvPr/>
          </p:nvGrpSpPr>
          <p:grpSpPr bwMode="auto">
            <a:xfrm>
              <a:off x="3912" y="3019"/>
              <a:ext cx="776" cy="151"/>
              <a:chOff x="1200" y="2448"/>
              <a:chExt cx="816" cy="144"/>
            </a:xfrm>
          </p:grpSpPr>
          <p:sp>
            <p:nvSpPr>
              <p:cNvPr id="26634" name="Line 42"/>
              <p:cNvSpPr>
                <a:spLocks noChangeShapeType="1"/>
              </p:cNvSpPr>
              <p:nvPr/>
            </p:nvSpPr>
            <p:spPr bwMode="auto">
              <a:xfrm flipV="1">
                <a:off x="1200" y="2448"/>
                <a:ext cx="0" cy="144"/>
              </a:xfrm>
              <a:prstGeom prst="line">
                <a:avLst/>
              </a:prstGeom>
              <a:noFill/>
              <a:ln w="28575">
                <a:solidFill>
                  <a:schemeClr val="tx1"/>
                </a:solidFill>
                <a:round/>
                <a:headEnd/>
                <a:tailEnd/>
              </a:ln>
            </p:spPr>
            <p:txBody>
              <a:bodyPr anchor="b"/>
              <a:lstStyle/>
              <a:p>
                <a:endParaRPr lang="en-US" dirty="0"/>
              </a:p>
            </p:txBody>
          </p:sp>
          <p:sp>
            <p:nvSpPr>
              <p:cNvPr id="26635" name="Line 43"/>
              <p:cNvSpPr>
                <a:spLocks noChangeShapeType="1"/>
              </p:cNvSpPr>
              <p:nvPr/>
            </p:nvSpPr>
            <p:spPr bwMode="auto">
              <a:xfrm flipH="1">
                <a:off x="1200" y="2448"/>
                <a:ext cx="816" cy="0"/>
              </a:xfrm>
              <a:prstGeom prst="line">
                <a:avLst/>
              </a:prstGeom>
              <a:noFill/>
              <a:ln w="28575">
                <a:solidFill>
                  <a:schemeClr val="tx1"/>
                </a:solidFill>
                <a:round/>
                <a:headEnd/>
                <a:tailEnd/>
              </a:ln>
            </p:spPr>
            <p:txBody>
              <a:bodyPr anchor="b"/>
              <a:lstStyle/>
              <a:p>
                <a:endParaRPr lang="en-US" dirty="0"/>
              </a:p>
            </p:txBody>
          </p:sp>
          <p:sp>
            <p:nvSpPr>
              <p:cNvPr id="26636" name="Line 44"/>
              <p:cNvSpPr>
                <a:spLocks noChangeShapeType="1"/>
              </p:cNvSpPr>
              <p:nvPr/>
            </p:nvSpPr>
            <p:spPr bwMode="auto">
              <a:xfrm>
                <a:off x="2016" y="2448"/>
                <a:ext cx="0" cy="144"/>
              </a:xfrm>
              <a:prstGeom prst="line">
                <a:avLst/>
              </a:prstGeom>
              <a:noFill/>
              <a:ln w="28575">
                <a:solidFill>
                  <a:schemeClr val="tx1"/>
                </a:solidFill>
                <a:round/>
                <a:headEnd/>
                <a:tailEnd type="triangle" w="med" len="med"/>
              </a:ln>
            </p:spPr>
            <p:txBody>
              <a:bodyPr anchor="b"/>
              <a:lstStyle/>
              <a:p>
                <a:endParaRPr lang="en-US"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459C9-B472-E378-80EC-82208D73ED15}"/>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70E6172E-1AEE-B8DE-5C1F-FD3191944C2D}"/>
              </a:ext>
            </a:extLst>
          </p:cNvPr>
          <p:cNvSpPr>
            <a:spLocks noGrp="1"/>
          </p:cNvSpPr>
          <p:nvPr>
            <p:ph idx="1"/>
          </p:nvPr>
        </p:nvSpPr>
        <p:spPr>
          <a:xfrm>
            <a:off x="152400" y="838200"/>
            <a:ext cx="8915400" cy="5867400"/>
          </a:xfrm>
        </p:spPr>
        <p:txBody>
          <a:bodyPr>
            <a:normAutofit fontScale="92500" lnSpcReduction="20000"/>
          </a:bodyPr>
          <a:lstStyle/>
          <a:p>
            <a:pPr marL="0" indent="0">
              <a:buNone/>
            </a:pPr>
            <a:r>
              <a:rPr lang="en-US" dirty="0"/>
              <a:t>BCNF is a stricter version of 3NF. </a:t>
            </a:r>
          </a:p>
          <a:p>
            <a:pPr marL="0" indent="0" fontAlgn="base">
              <a:buNone/>
            </a:pPr>
            <a:r>
              <a:rPr lang="en-US" b="1" dirty="0"/>
              <a:t>Rules for BCNF</a:t>
            </a:r>
          </a:p>
          <a:p>
            <a:pPr fontAlgn="base"/>
            <a:r>
              <a:rPr lang="en-US" b="1" dirty="0"/>
              <a:t>Rule 1: </a:t>
            </a:r>
            <a:r>
              <a:rPr lang="en-US" dirty="0"/>
              <a:t>The table should be in the 3rd Normal Form.</a:t>
            </a:r>
          </a:p>
          <a:p>
            <a:pPr fontAlgn="base"/>
            <a:r>
              <a:rPr lang="en-US" b="1" dirty="0"/>
              <a:t>Rule 2: </a:t>
            </a:r>
            <a:r>
              <a:rPr lang="en-US" dirty="0"/>
              <a:t>X should be a super-key for every functional dependency (FD) X−&gt;Y in a given relation. </a:t>
            </a:r>
          </a:p>
          <a:p>
            <a:pPr fontAlgn="base"/>
            <a:endParaRPr lang="en-US" dirty="0"/>
          </a:p>
          <a:p>
            <a:pPr marL="0" indent="0" fontAlgn="base">
              <a:buNone/>
            </a:pPr>
            <a:r>
              <a:rPr lang="en-US" dirty="0"/>
              <a:t>To verify BCNF, identify all determinants (left side of FDs) and check whether each is a candidate key.</a:t>
            </a:r>
          </a:p>
          <a:p>
            <a:pPr marL="0" indent="0">
              <a:buNone/>
            </a:pPr>
            <a:endParaRPr lang="en-US" dirty="0"/>
          </a:p>
          <a:p>
            <a:pPr marL="0" indent="0">
              <a:buNone/>
            </a:pPr>
            <a:r>
              <a:rPr lang="en-US" b="1" dirty="0"/>
              <a:t>When is BCNF Needed?</a:t>
            </a:r>
            <a:br>
              <a:rPr lang="en-US" dirty="0"/>
            </a:br>
            <a:r>
              <a:rPr lang="en-US" dirty="0"/>
              <a:t>BCNF addresses certain edge cases where 3NF does not eliminate all redundancy, particularly when there are overlapping candidate keys or complex dependencies.</a:t>
            </a:r>
          </a:p>
          <a:p>
            <a:endParaRPr lang="en-IN" dirty="0"/>
          </a:p>
        </p:txBody>
      </p:sp>
    </p:spTree>
    <p:extLst>
      <p:ext uri="{BB962C8B-B14F-4D97-AF65-F5344CB8AC3E}">
        <p14:creationId xmlns:p14="http://schemas.microsoft.com/office/powerpoint/2010/main" val="24530814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43BE4-6BF7-1A1D-A0AF-A7C42900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7C9C2B-CA57-4AF3-BE50-791601EDA658}"/>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14C65EEF-ADB0-9D37-1CF2-3FAC9730435E}"/>
              </a:ext>
            </a:extLst>
          </p:cNvPr>
          <p:cNvSpPr>
            <a:spLocks noGrp="1"/>
          </p:cNvSpPr>
          <p:nvPr>
            <p:ph idx="1"/>
          </p:nvPr>
        </p:nvSpPr>
        <p:spPr>
          <a:xfrm>
            <a:off x="152400" y="838200"/>
            <a:ext cx="8915400" cy="5867400"/>
          </a:xfrm>
        </p:spPr>
        <p:txBody>
          <a:bodyPr/>
          <a:lstStyle/>
          <a:p>
            <a:pPr marL="0" indent="0">
              <a:buNone/>
            </a:pPr>
            <a:r>
              <a:rPr lang="en-US" dirty="0"/>
              <a:t>Consider university database that tracks which students are enrolled in which courses, and who teaches each course.</a:t>
            </a:r>
          </a:p>
          <a:p>
            <a:pPr marL="0" indent="0">
              <a:buNone/>
            </a:pPr>
            <a:endParaRPr lang="en-US" dirty="0"/>
          </a:p>
          <a:p>
            <a:pPr marL="0" indent="0">
              <a:buNone/>
            </a:pPr>
            <a:r>
              <a:rPr lang="en-US" dirty="0"/>
              <a:t>.</a:t>
            </a:r>
          </a:p>
          <a:p>
            <a:endParaRPr lang="en-IN" dirty="0"/>
          </a:p>
        </p:txBody>
      </p:sp>
      <p:graphicFrame>
        <p:nvGraphicFramePr>
          <p:cNvPr id="4" name="Table 3">
            <a:extLst>
              <a:ext uri="{FF2B5EF4-FFF2-40B4-BE49-F238E27FC236}">
                <a16:creationId xmlns:a16="http://schemas.microsoft.com/office/drawing/2014/main" id="{C9AE48F8-83D0-06C2-BFDF-FE80F27725A1}"/>
              </a:ext>
            </a:extLst>
          </p:cNvPr>
          <p:cNvGraphicFramePr>
            <a:graphicFrameLocks noGrp="1"/>
          </p:cNvGraphicFramePr>
          <p:nvPr>
            <p:extLst>
              <p:ext uri="{D42A27DB-BD31-4B8C-83A1-F6EECF244321}">
                <p14:modId xmlns:p14="http://schemas.microsoft.com/office/powerpoint/2010/main" val="3240933538"/>
              </p:ext>
            </p:extLst>
          </p:nvPr>
        </p:nvGraphicFramePr>
        <p:xfrm>
          <a:off x="228600" y="2514600"/>
          <a:ext cx="8686800" cy="4191000"/>
        </p:xfrm>
        <a:graphic>
          <a:graphicData uri="http://schemas.openxmlformats.org/drawingml/2006/table">
            <a:tbl>
              <a:tblPr/>
              <a:tblGrid>
                <a:gridCol w="2895600">
                  <a:extLst>
                    <a:ext uri="{9D8B030D-6E8A-4147-A177-3AD203B41FA5}">
                      <a16:colId xmlns:a16="http://schemas.microsoft.com/office/drawing/2014/main" val="3123732133"/>
                    </a:ext>
                  </a:extLst>
                </a:gridCol>
                <a:gridCol w="2895600">
                  <a:extLst>
                    <a:ext uri="{9D8B030D-6E8A-4147-A177-3AD203B41FA5}">
                      <a16:colId xmlns:a16="http://schemas.microsoft.com/office/drawing/2014/main" val="2066765712"/>
                    </a:ext>
                  </a:extLst>
                </a:gridCol>
                <a:gridCol w="2895600">
                  <a:extLst>
                    <a:ext uri="{9D8B030D-6E8A-4147-A177-3AD203B41FA5}">
                      <a16:colId xmlns:a16="http://schemas.microsoft.com/office/drawing/2014/main" val="4172274893"/>
                    </a:ext>
                  </a:extLst>
                </a:gridCol>
              </a:tblGrid>
              <a:tr h="838200">
                <a:tc>
                  <a:txBody>
                    <a:bodyPr/>
                    <a:lstStyle/>
                    <a:p>
                      <a:pPr>
                        <a:buNone/>
                      </a:pPr>
                      <a:r>
                        <a:rPr lang="en-IN" b="1">
                          <a:solidFill>
                            <a:srgbClr val="000C2A"/>
                          </a:solidFill>
                          <a:effectLst/>
                        </a:rPr>
                        <a:t>StudentID</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a:solidFill>
                            <a:srgbClr val="000C2A"/>
                          </a:solidFill>
                          <a:effectLst/>
                        </a:rPr>
                        <a:t>Course</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a:solidFill>
                            <a:srgbClr val="000C2A"/>
                          </a:solidFill>
                          <a:effectLst/>
                        </a:rPr>
                        <a:t>Instructor</a:t>
                      </a:r>
                    </a:p>
                  </a:txBody>
                  <a:tcPr anchor="ctr">
                    <a:lnL>
                      <a:noFill/>
                    </a:lnL>
                    <a:lnR>
                      <a:noFill/>
                    </a:lnR>
                    <a:lnT>
                      <a:noFill/>
                    </a:lnT>
                    <a:lnB w="7620" cap="flat" cmpd="sng" algn="ctr">
                      <a:solidFill>
                        <a:srgbClr val="D6DCEA"/>
                      </a:solidFill>
                      <a:prstDash val="dash"/>
                      <a:round/>
                      <a:headEnd type="none" w="med" len="med"/>
                      <a:tailEnd type="none" w="med" len="med"/>
                    </a:lnB>
                    <a:noFill/>
                  </a:tcPr>
                </a:tc>
                <a:extLst>
                  <a:ext uri="{0D108BD9-81ED-4DB2-BD59-A6C34878D82A}">
                    <a16:rowId xmlns:a16="http://schemas.microsoft.com/office/drawing/2014/main" val="1247588069"/>
                  </a:ext>
                </a:extLst>
              </a:tr>
              <a:tr h="838200">
                <a:tc>
                  <a:txBody>
                    <a:bodyPr/>
                    <a:lstStyle/>
                    <a:p>
                      <a:pPr>
                        <a:buNone/>
                      </a:pPr>
                      <a:r>
                        <a:rPr lang="en-IN" dirty="0">
                          <a:solidFill>
                            <a:srgbClr val="4D5B7C"/>
                          </a:solidFill>
                          <a:effectLst/>
                        </a:rPr>
                        <a:t>1</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Math</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Dr. Smith</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3235256367"/>
                  </a:ext>
                </a:extLst>
              </a:tr>
              <a:tr h="838200">
                <a:tc>
                  <a:txBody>
                    <a:bodyPr/>
                    <a:lstStyle/>
                    <a:p>
                      <a:pPr>
                        <a:buNone/>
                      </a:pPr>
                      <a:r>
                        <a:rPr lang="en-IN">
                          <a:solidFill>
                            <a:srgbClr val="4D5B7C"/>
                          </a:solidFill>
                          <a:effectLst/>
                        </a:rPr>
                        <a:t>2</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Math</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Dr. Smith</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2013037690"/>
                  </a:ext>
                </a:extLst>
              </a:tr>
              <a:tr h="838200">
                <a:tc>
                  <a:txBody>
                    <a:bodyPr/>
                    <a:lstStyle/>
                    <a:p>
                      <a:pPr>
                        <a:buNone/>
                      </a:pPr>
                      <a:r>
                        <a:rPr lang="en-IN">
                          <a:solidFill>
                            <a:srgbClr val="4D5B7C"/>
                          </a:solidFill>
                          <a:effectLst/>
                        </a:rPr>
                        <a:t>3</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History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Dr. Jones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2349819211"/>
                  </a:ext>
                </a:extLst>
              </a:tr>
              <a:tr h="838200">
                <a:tc>
                  <a:txBody>
                    <a:bodyPr/>
                    <a:lstStyle/>
                    <a:p>
                      <a:pPr>
                        <a:buNone/>
                      </a:pPr>
                      <a:r>
                        <a:rPr lang="en-IN">
                          <a:solidFill>
                            <a:srgbClr val="4D5B7C"/>
                          </a:solidFill>
                          <a:effectLst/>
                        </a:rPr>
                        <a:t>4</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History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a:solidFill>
                            <a:srgbClr val="4D5B7C"/>
                          </a:solidFill>
                          <a:effectLst/>
                        </a:rPr>
                        <a:t>Dr. Jones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4254028775"/>
                  </a:ext>
                </a:extLst>
              </a:tr>
            </a:tbl>
          </a:graphicData>
        </a:graphic>
      </p:graphicFrame>
    </p:spTree>
    <p:extLst>
      <p:ext uri="{BB962C8B-B14F-4D97-AF65-F5344CB8AC3E}">
        <p14:creationId xmlns:p14="http://schemas.microsoft.com/office/powerpoint/2010/main" val="2533023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B5CE1-5FA9-3947-340F-904BE76934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7F70F-E029-185D-9841-FBAAB9AF361F}"/>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37591DDE-24E9-0FAB-4BEA-7BBB70B17CEB}"/>
              </a:ext>
            </a:extLst>
          </p:cNvPr>
          <p:cNvSpPr>
            <a:spLocks noGrp="1"/>
          </p:cNvSpPr>
          <p:nvPr>
            <p:ph idx="1"/>
          </p:nvPr>
        </p:nvSpPr>
        <p:spPr>
          <a:xfrm>
            <a:off x="152400" y="838200"/>
            <a:ext cx="8915400" cy="5867400"/>
          </a:xfrm>
        </p:spPr>
        <p:txBody>
          <a:bodyPr>
            <a:normAutofit/>
          </a:bodyPr>
          <a:lstStyle/>
          <a:p>
            <a:pPr marL="0" indent="0">
              <a:buNone/>
            </a:pPr>
            <a:r>
              <a:rPr lang="en-US" sz="3000" b="1" dirty="0"/>
              <a:t>Functional Dependencies in the Table:</a:t>
            </a:r>
            <a:endParaRPr lang="en-US" sz="3000" dirty="0"/>
          </a:p>
          <a:p>
            <a:r>
              <a:rPr lang="en-US" sz="3000" b="1" dirty="0"/>
              <a:t>(</a:t>
            </a:r>
            <a:r>
              <a:rPr lang="en-US" sz="3000" b="1" dirty="0" err="1"/>
              <a:t>StudentID</a:t>
            </a:r>
            <a:r>
              <a:rPr lang="en-US" sz="3000" b="1" dirty="0"/>
              <a:t>, Course) → Instructor</a:t>
            </a:r>
            <a:br>
              <a:rPr lang="en-US" sz="3000" dirty="0"/>
            </a:br>
            <a:r>
              <a:rPr lang="en-US" sz="3000" dirty="0"/>
              <a:t>Each unique combination of student and course determines the instructor for that course.</a:t>
            </a:r>
          </a:p>
          <a:p>
            <a:r>
              <a:rPr lang="en-US" sz="3000" b="1" dirty="0"/>
              <a:t>Course → Instructor</a:t>
            </a:r>
            <a:br>
              <a:rPr lang="en-US" sz="3000" dirty="0"/>
            </a:br>
            <a:r>
              <a:rPr lang="en-US" sz="3000" dirty="0"/>
              <a:t>Each course is always taught by the same instructor.</a:t>
            </a:r>
          </a:p>
          <a:p>
            <a:pPr marL="0" indent="0">
              <a:buNone/>
            </a:pPr>
            <a:endParaRPr lang="en-US" sz="3000" dirty="0"/>
          </a:p>
          <a:p>
            <a:pPr marL="0" indent="0">
              <a:buNone/>
            </a:pPr>
            <a:r>
              <a:rPr lang="en-US" sz="3000" b="1" dirty="0"/>
              <a:t>Candidate Keys:</a:t>
            </a:r>
            <a:endParaRPr lang="en-US" sz="3000" dirty="0"/>
          </a:p>
          <a:p>
            <a:r>
              <a:rPr lang="en-US" sz="3000" dirty="0"/>
              <a:t>The only candidate key in this table is the composite key </a:t>
            </a:r>
            <a:r>
              <a:rPr lang="en-US" sz="3000" b="1" dirty="0"/>
              <a:t>(</a:t>
            </a:r>
            <a:r>
              <a:rPr lang="en-US" sz="3000" b="1" dirty="0" err="1"/>
              <a:t>StudentID</a:t>
            </a:r>
            <a:r>
              <a:rPr lang="en-US" sz="3000" b="1" dirty="0"/>
              <a:t>, Course)</a:t>
            </a:r>
            <a:r>
              <a:rPr lang="en-US" sz="3000" dirty="0"/>
              <a:t>, since both are needed to uniquely identify a row.</a:t>
            </a:r>
          </a:p>
          <a:p>
            <a:pPr marL="0" indent="0">
              <a:buNone/>
            </a:pPr>
            <a:endParaRPr lang="en-US" dirty="0"/>
          </a:p>
          <a:p>
            <a:pPr marL="0" indent="0">
              <a:buNone/>
            </a:pPr>
            <a:endParaRPr lang="en-US" dirty="0"/>
          </a:p>
          <a:p>
            <a:endParaRPr lang="en-IN" dirty="0"/>
          </a:p>
        </p:txBody>
      </p:sp>
    </p:spTree>
    <p:extLst>
      <p:ext uri="{BB962C8B-B14F-4D97-AF65-F5344CB8AC3E}">
        <p14:creationId xmlns:p14="http://schemas.microsoft.com/office/powerpoint/2010/main" val="3395842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B922A-2213-605A-A56D-6216D426C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0BDDF4-3B33-D086-8473-B6A966B8EEB5}"/>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0A5D6395-A366-F7C5-D222-C1661C60EEAB}"/>
              </a:ext>
            </a:extLst>
          </p:cNvPr>
          <p:cNvSpPr>
            <a:spLocks noGrp="1"/>
          </p:cNvSpPr>
          <p:nvPr>
            <p:ph idx="1"/>
          </p:nvPr>
        </p:nvSpPr>
        <p:spPr>
          <a:xfrm>
            <a:off x="152400" y="838200"/>
            <a:ext cx="8915400" cy="5867400"/>
          </a:xfrm>
        </p:spPr>
        <p:txBody>
          <a:bodyPr/>
          <a:lstStyle/>
          <a:p>
            <a:pPr marL="0" indent="0">
              <a:buNone/>
            </a:pPr>
            <a:r>
              <a:rPr lang="en-US" b="1" dirty="0"/>
              <a:t>Why is this Table in 3NF?</a:t>
            </a:r>
            <a:endParaRPr lang="en-US" dirty="0"/>
          </a:p>
          <a:p>
            <a:r>
              <a:rPr lang="en-US" dirty="0"/>
              <a:t>All non-prime attributes (Instructor) are fully functionally dependent on the candidate key (</a:t>
            </a:r>
            <a:r>
              <a:rPr lang="en-US" dirty="0" err="1"/>
              <a:t>StudentID</a:t>
            </a:r>
            <a:r>
              <a:rPr lang="en-US" dirty="0"/>
              <a:t>, Course).</a:t>
            </a:r>
          </a:p>
          <a:p>
            <a:r>
              <a:rPr lang="en-US" dirty="0"/>
              <a:t>There are no transitive dependencies (i.e., no non-prime attribute depends on another non-prime attribute through the candidate key).</a:t>
            </a:r>
          </a:p>
          <a:p>
            <a:pPr marL="0" indent="0">
              <a:buNone/>
            </a:pPr>
            <a:endParaRPr lang="en-US" dirty="0"/>
          </a:p>
          <a:p>
            <a:endParaRPr lang="en-IN" dirty="0"/>
          </a:p>
        </p:txBody>
      </p:sp>
    </p:spTree>
    <p:extLst>
      <p:ext uri="{BB962C8B-B14F-4D97-AF65-F5344CB8AC3E}">
        <p14:creationId xmlns:p14="http://schemas.microsoft.com/office/powerpoint/2010/main" val="3253171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89BD0-9E4A-02C1-EB82-D7758B5FD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237A4-9A67-A129-B757-E70763BCB9C3}"/>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78C88622-884A-9773-7AB4-542C942AE04D}"/>
              </a:ext>
            </a:extLst>
          </p:cNvPr>
          <p:cNvSpPr>
            <a:spLocks noGrp="1"/>
          </p:cNvSpPr>
          <p:nvPr>
            <p:ph idx="1"/>
          </p:nvPr>
        </p:nvSpPr>
        <p:spPr>
          <a:xfrm>
            <a:off x="152400" y="838200"/>
            <a:ext cx="8915400" cy="5867400"/>
          </a:xfrm>
        </p:spPr>
        <p:txBody>
          <a:bodyPr/>
          <a:lstStyle/>
          <a:p>
            <a:pPr marL="0" indent="0">
              <a:buNone/>
            </a:pPr>
            <a:r>
              <a:rPr lang="en-US" b="1" dirty="0"/>
              <a:t>Why is this Table </a:t>
            </a:r>
            <a:r>
              <a:rPr lang="en-US" b="1" i="1" dirty="0"/>
              <a:t>Not</a:t>
            </a:r>
            <a:r>
              <a:rPr lang="en-US" b="1" dirty="0"/>
              <a:t> in BCNF?</a:t>
            </a:r>
            <a:endParaRPr lang="en-US" dirty="0"/>
          </a:p>
          <a:p>
            <a:r>
              <a:rPr lang="en-US" dirty="0"/>
              <a:t>The functional dependency </a:t>
            </a:r>
            <a:r>
              <a:rPr lang="en-US" b="1" dirty="0"/>
              <a:t>Course → Instructor</a:t>
            </a:r>
            <a:r>
              <a:rPr lang="en-US" dirty="0"/>
              <a:t> exists, but “Course” is not a super key (it does not uniquely identify a row in the table).</a:t>
            </a:r>
          </a:p>
          <a:p>
            <a:r>
              <a:rPr lang="en-US" dirty="0"/>
              <a:t>BCNF requires that for every non-trivial functional dependency X → Y, X must be a super key. Here, “Course” is not a super key, so this violates BCNF.</a:t>
            </a:r>
          </a:p>
          <a:p>
            <a:pPr marL="0" indent="0">
              <a:buNone/>
            </a:pPr>
            <a:endParaRPr lang="en-US" dirty="0"/>
          </a:p>
          <a:p>
            <a:endParaRPr lang="en-IN" dirty="0"/>
          </a:p>
        </p:txBody>
      </p:sp>
    </p:spTree>
    <p:extLst>
      <p:ext uri="{BB962C8B-B14F-4D97-AF65-F5344CB8AC3E}">
        <p14:creationId xmlns:p14="http://schemas.microsoft.com/office/powerpoint/2010/main" val="1859367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321F5-4363-8DD1-04B8-55828EA57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D8124-1321-5249-D662-B862B9B01B3B}"/>
              </a:ext>
            </a:extLst>
          </p:cNvPr>
          <p:cNvSpPr>
            <a:spLocks noGrp="1"/>
          </p:cNvSpPr>
          <p:nvPr>
            <p:ph type="title"/>
          </p:nvPr>
        </p:nvSpPr>
        <p:spPr>
          <a:xfrm>
            <a:off x="457200" y="274638"/>
            <a:ext cx="8229600" cy="563562"/>
          </a:xfrm>
        </p:spPr>
        <p:txBody>
          <a:bodyPr>
            <a:normAutofit fontScale="90000"/>
          </a:bodyPr>
          <a:lstStyle/>
          <a:p>
            <a:r>
              <a:rPr lang="en-IN" sz="4000" b="1" dirty="0"/>
              <a:t>Boyce-Codd Normal Form (BCNF)</a:t>
            </a:r>
          </a:p>
        </p:txBody>
      </p:sp>
      <p:sp>
        <p:nvSpPr>
          <p:cNvPr id="3" name="Content Placeholder 2">
            <a:extLst>
              <a:ext uri="{FF2B5EF4-FFF2-40B4-BE49-F238E27FC236}">
                <a16:creationId xmlns:a16="http://schemas.microsoft.com/office/drawing/2014/main" id="{609F9C40-7EF2-BAB5-1288-5F5D7E60C3A7}"/>
              </a:ext>
            </a:extLst>
          </p:cNvPr>
          <p:cNvSpPr>
            <a:spLocks noGrp="1"/>
          </p:cNvSpPr>
          <p:nvPr>
            <p:ph idx="1"/>
          </p:nvPr>
        </p:nvSpPr>
        <p:spPr>
          <a:xfrm>
            <a:off x="152400" y="838200"/>
            <a:ext cx="8915400" cy="5867400"/>
          </a:xfrm>
        </p:spPr>
        <p:txBody>
          <a:bodyPr>
            <a:normAutofit fontScale="85000" lnSpcReduction="10000"/>
          </a:bodyPr>
          <a:lstStyle/>
          <a:p>
            <a:pPr marL="0" indent="0">
              <a:buNone/>
            </a:pPr>
            <a:r>
              <a:rPr lang="en-US" b="1" dirty="0"/>
              <a:t>How to Normalize to BCNF:</a:t>
            </a:r>
            <a:endParaRPr lang="en-US" dirty="0"/>
          </a:p>
          <a:p>
            <a:r>
              <a:rPr lang="en-US" dirty="0"/>
              <a:t>To resolve the BCNF violation, we need to decompose the table so that every determinant is a candidate key in its respective table. This is done by splitting the original table into two separate tables:</a:t>
            </a:r>
          </a:p>
          <a:p>
            <a:pPr marL="0" indent="0">
              <a:buNone/>
            </a:pPr>
            <a:endParaRPr lang="en-US" dirty="0"/>
          </a:p>
          <a:p>
            <a:r>
              <a:rPr lang="en-US" b="1" dirty="0" err="1"/>
              <a:t>StudentCourses</a:t>
            </a:r>
            <a:r>
              <a:rPr lang="en-US" b="1" dirty="0"/>
              <a:t> Table:</a:t>
            </a:r>
            <a:br>
              <a:rPr lang="en-US" dirty="0"/>
            </a:br>
            <a:r>
              <a:rPr lang="en-US" dirty="0"/>
              <a:t>This table records which students are enrolled in which courses.</a:t>
            </a:r>
            <a:br>
              <a:rPr lang="en-US" dirty="0"/>
            </a:br>
            <a:r>
              <a:rPr lang="en-IN" b="1" dirty="0"/>
              <a:t>Primary Key:</a:t>
            </a:r>
            <a:r>
              <a:rPr lang="en-IN" dirty="0"/>
              <a:t> (</a:t>
            </a:r>
            <a:r>
              <a:rPr lang="en-IN" dirty="0" err="1"/>
              <a:t>StudentID</a:t>
            </a:r>
            <a:r>
              <a:rPr lang="en-IN" dirty="0"/>
              <a:t>, Course)</a:t>
            </a:r>
          </a:p>
          <a:p>
            <a:endParaRPr lang="en-US" dirty="0"/>
          </a:p>
          <a:p>
            <a:r>
              <a:rPr lang="en-US" b="1" dirty="0" err="1"/>
              <a:t>CourseInstructors</a:t>
            </a:r>
            <a:r>
              <a:rPr lang="en-US" b="1" dirty="0"/>
              <a:t> Table:</a:t>
            </a:r>
            <a:br>
              <a:rPr lang="en-US" dirty="0"/>
            </a:br>
            <a:r>
              <a:rPr lang="en-US" dirty="0"/>
              <a:t>This table records which instructor teaches each course.</a:t>
            </a:r>
          </a:p>
          <a:p>
            <a:pPr marL="0" indent="0">
              <a:buNone/>
            </a:pPr>
            <a:r>
              <a:rPr lang="en-IN" b="1" dirty="0"/>
              <a:t>     Primary Key:</a:t>
            </a:r>
            <a:r>
              <a:rPr lang="en-IN" dirty="0"/>
              <a:t> Course</a:t>
            </a:r>
          </a:p>
          <a:p>
            <a:endParaRPr lang="en-IN" dirty="0"/>
          </a:p>
        </p:txBody>
      </p:sp>
    </p:spTree>
    <p:extLst>
      <p:ext uri="{BB962C8B-B14F-4D97-AF65-F5344CB8AC3E}">
        <p14:creationId xmlns:p14="http://schemas.microsoft.com/office/powerpoint/2010/main" val="2951621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DCD36-2C3E-461C-BCC9-D07B70D63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A6504-4C18-0B44-E760-2C3068D8F1D9}"/>
              </a:ext>
            </a:extLst>
          </p:cNvPr>
          <p:cNvSpPr>
            <a:spLocks noGrp="1"/>
          </p:cNvSpPr>
          <p:nvPr>
            <p:ph type="title"/>
          </p:nvPr>
        </p:nvSpPr>
        <p:spPr>
          <a:xfrm>
            <a:off x="457200" y="304800"/>
            <a:ext cx="8229600" cy="563562"/>
          </a:xfrm>
        </p:spPr>
        <p:txBody>
          <a:bodyPr>
            <a:normAutofit fontScale="90000"/>
          </a:bodyPr>
          <a:lstStyle/>
          <a:p>
            <a:r>
              <a:rPr lang="en-IN" sz="4000" b="1" dirty="0"/>
              <a:t>Boyce-Codd Normal Form (BCNF)</a:t>
            </a:r>
          </a:p>
        </p:txBody>
      </p:sp>
      <p:graphicFrame>
        <p:nvGraphicFramePr>
          <p:cNvPr id="4" name="Content Placeholder 3">
            <a:extLst>
              <a:ext uri="{FF2B5EF4-FFF2-40B4-BE49-F238E27FC236}">
                <a16:creationId xmlns:a16="http://schemas.microsoft.com/office/drawing/2014/main" id="{5EA53B8B-E94E-C536-4F3A-CD4C68761F43}"/>
              </a:ext>
            </a:extLst>
          </p:cNvPr>
          <p:cNvGraphicFramePr>
            <a:graphicFrameLocks noGrp="1"/>
          </p:cNvGraphicFramePr>
          <p:nvPr>
            <p:ph idx="1"/>
            <p:extLst>
              <p:ext uri="{D42A27DB-BD31-4B8C-83A1-F6EECF244321}">
                <p14:modId xmlns:p14="http://schemas.microsoft.com/office/powerpoint/2010/main" val="1331658317"/>
              </p:ext>
            </p:extLst>
          </p:nvPr>
        </p:nvGraphicFramePr>
        <p:xfrm>
          <a:off x="450271" y="1143000"/>
          <a:ext cx="8382000" cy="2667000"/>
        </p:xfrm>
        <a:graphic>
          <a:graphicData uri="http://schemas.openxmlformats.org/drawingml/2006/table">
            <a:tbl>
              <a:tblPr/>
              <a:tblGrid>
                <a:gridCol w="4191000">
                  <a:extLst>
                    <a:ext uri="{9D8B030D-6E8A-4147-A177-3AD203B41FA5}">
                      <a16:colId xmlns:a16="http://schemas.microsoft.com/office/drawing/2014/main" val="2584953026"/>
                    </a:ext>
                  </a:extLst>
                </a:gridCol>
                <a:gridCol w="4191000">
                  <a:extLst>
                    <a:ext uri="{9D8B030D-6E8A-4147-A177-3AD203B41FA5}">
                      <a16:colId xmlns:a16="http://schemas.microsoft.com/office/drawing/2014/main" val="3287204766"/>
                    </a:ext>
                  </a:extLst>
                </a:gridCol>
              </a:tblGrid>
              <a:tr h="533400">
                <a:tc>
                  <a:txBody>
                    <a:bodyPr/>
                    <a:lstStyle/>
                    <a:p>
                      <a:pPr>
                        <a:buNone/>
                      </a:pPr>
                      <a:r>
                        <a:rPr lang="en-IN" b="1">
                          <a:solidFill>
                            <a:srgbClr val="000C2A"/>
                          </a:solidFill>
                          <a:effectLst/>
                        </a:rPr>
                        <a:t>StudentID</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a:solidFill>
                            <a:srgbClr val="000C2A"/>
                          </a:solidFill>
                          <a:effectLst/>
                        </a:rPr>
                        <a:t>Course</a:t>
                      </a:r>
                    </a:p>
                  </a:txBody>
                  <a:tcPr anchor="ctr">
                    <a:lnL>
                      <a:noFill/>
                    </a:lnL>
                    <a:lnR>
                      <a:noFill/>
                    </a:lnR>
                    <a:lnT>
                      <a:noFill/>
                    </a:lnT>
                    <a:lnB w="7620" cap="flat" cmpd="sng" algn="ctr">
                      <a:solidFill>
                        <a:srgbClr val="D6DCEA"/>
                      </a:solidFill>
                      <a:prstDash val="dash"/>
                      <a:round/>
                      <a:headEnd type="none" w="med" len="med"/>
                      <a:tailEnd type="none" w="med" len="med"/>
                    </a:lnB>
                    <a:noFill/>
                  </a:tcPr>
                </a:tc>
                <a:extLst>
                  <a:ext uri="{0D108BD9-81ED-4DB2-BD59-A6C34878D82A}">
                    <a16:rowId xmlns:a16="http://schemas.microsoft.com/office/drawing/2014/main" val="2367689207"/>
                  </a:ext>
                </a:extLst>
              </a:tr>
              <a:tr h="533400">
                <a:tc>
                  <a:txBody>
                    <a:bodyPr/>
                    <a:lstStyle/>
                    <a:p>
                      <a:pPr>
                        <a:buNone/>
                      </a:pPr>
                      <a:r>
                        <a:rPr lang="en-IN" dirty="0">
                          <a:solidFill>
                            <a:srgbClr val="4D5B7C"/>
                          </a:solidFill>
                          <a:effectLst/>
                        </a:rPr>
                        <a:t>1</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Math</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2559019542"/>
                  </a:ext>
                </a:extLst>
              </a:tr>
              <a:tr h="533400">
                <a:tc>
                  <a:txBody>
                    <a:bodyPr/>
                    <a:lstStyle/>
                    <a:p>
                      <a:pPr>
                        <a:buNone/>
                      </a:pPr>
                      <a:r>
                        <a:rPr lang="en-IN" dirty="0">
                          <a:solidFill>
                            <a:srgbClr val="4D5B7C"/>
                          </a:solidFill>
                          <a:effectLst/>
                        </a:rPr>
                        <a:t>2</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Math</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627571995"/>
                  </a:ext>
                </a:extLst>
              </a:tr>
              <a:tr h="533400">
                <a:tc>
                  <a:txBody>
                    <a:bodyPr/>
                    <a:lstStyle/>
                    <a:p>
                      <a:pPr>
                        <a:buNone/>
                      </a:pPr>
                      <a:r>
                        <a:rPr lang="en-IN">
                          <a:solidFill>
                            <a:srgbClr val="4D5B7C"/>
                          </a:solidFill>
                          <a:effectLst/>
                        </a:rPr>
                        <a:t>3</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History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269626984"/>
                  </a:ext>
                </a:extLst>
              </a:tr>
              <a:tr h="533400">
                <a:tc>
                  <a:txBody>
                    <a:bodyPr/>
                    <a:lstStyle/>
                    <a:p>
                      <a:pPr>
                        <a:buNone/>
                      </a:pPr>
                      <a:r>
                        <a:rPr lang="en-IN" dirty="0">
                          <a:solidFill>
                            <a:srgbClr val="4D5B7C"/>
                          </a:solidFill>
                          <a:effectLst/>
                        </a:rPr>
                        <a:t>4</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a:solidFill>
                            <a:srgbClr val="4D5B7C"/>
                          </a:solidFill>
                          <a:effectLst/>
                        </a:rPr>
                        <a:t>History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3786652826"/>
                  </a:ext>
                </a:extLst>
              </a:tr>
            </a:tbl>
          </a:graphicData>
        </a:graphic>
      </p:graphicFrame>
      <p:graphicFrame>
        <p:nvGraphicFramePr>
          <p:cNvPr id="5" name="Table 4">
            <a:extLst>
              <a:ext uri="{FF2B5EF4-FFF2-40B4-BE49-F238E27FC236}">
                <a16:creationId xmlns:a16="http://schemas.microsoft.com/office/drawing/2014/main" id="{F25F149E-2879-1744-2C7A-6453E567782A}"/>
              </a:ext>
            </a:extLst>
          </p:cNvPr>
          <p:cNvGraphicFramePr>
            <a:graphicFrameLocks noGrp="1"/>
          </p:cNvGraphicFramePr>
          <p:nvPr>
            <p:extLst>
              <p:ext uri="{D42A27DB-BD31-4B8C-83A1-F6EECF244321}">
                <p14:modId xmlns:p14="http://schemas.microsoft.com/office/powerpoint/2010/main" val="3256200328"/>
              </p:ext>
            </p:extLst>
          </p:nvPr>
        </p:nvGraphicFramePr>
        <p:xfrm>
          <a:off x="464126" y="4343400"/>
          <a:ext cx="8229600" cy="1828800"/>
        </p:xfrm>
        <a:graphic>
          <a:graphicData uri="http://schemas.openxmlformats.org/drawingml/2006/table">
            <a:tbl>
              <a:tblPr/>
              <a:tblGrid>
                <a:gridCol w="4114800">
                  <a:extLst>
                    <a:ext uri="{9D8B030D-6E8A-4147-A177-3AD203B41FA5}">
                      <a16:colId xmlns:a16="http://schemas.microsoft.com/office/drawing/2014/main" val="4123578962"/>
                    </a:ext>
                  </a:extLst>
                </a:gridCol>
                <a:gridCol w="4114800">
                  <a:extLst>
                    <a:ext uri="{9D8B030D-6E8A-4147-A177-3AD203B41FA5}">
                      <a16:colId xmlns:a16="http://schemas.microsoft.com/office/drawing/2014/main" val="3771588250"/>
                    </a:ext>
                  </a:extLst>
                </a:gridCol>
              </a:tblGrid>
              <a:tr h="609600">
                <a:tc>
                  <a:txBody>
                    <a:bodyPr/>
                    <a:lstStyle/>
                    <a:p>
                      <a:pPr>
                        <a:buNone/>
                      </a:pPr>
                      <a:r>
                        <a:rPr lang="en-IN" b="1" dirty="0">
                          <a:solidFill>
                            <a:srgbClr val="000C2A"/>
                          </a:solidFill>
                          <a:effectLst/>
                        </a:rPr>
                        <a:t>Course</a:t>
                      </a:r>
                    </a:p>
                  </a:txBody>
                  <a:tcPr anchor="ctr">
                    <a:lnL>
                      <a:noFill/>
                    </a:lnL>
                    <a:lnR>
                      <a:noFill/>
                    </a:lnR>
                    <a:lnT>
                      <a:noFill/>
                    </a:lnT>
                    <a:lnB w="7620" cap="flat" cmpd="sng" algn="ctr">
                      <a:solidFill>
                        <a:srgbClr val="D6DCEA"/>
                      </a:solidFill>
                      <a:prstDash val="dash"/>
                      <a:round/>
                      <a:headEnd type="none" w="med" len="med"/>
                      <a:tailEnd type="none" w="med" len="med"/>
                    </a:lnB>
                    <a:noFill/>
                  </a:tcPr>
                </a:tc>
                <a:tc>
                  <a:txBody>
                    <a:bodyPr/>
                    <a:lstStyle/>
                    <a:p>
                      <a:pPr>
                        <a:buNone/>
                      </a:pPr>
                      <a:r>
                        <a:rPr lang="en-IN" b="1" dirty="0">
                          <a:solidFill>
                            <a:srgbClr val="000C2A"/>
                          </a:solidFill>
                          <a:effectLst/>
                        </a:rPr>
                        <a:t>Instructor</a:t>
                      </a:r>
                    </a:p>
                  </a:txBody>
                  <a:tcPr anchor="ctr">
                    <a:lnL>
                      <a:noFill/>
                    </a:lnL>
                    <a:lnR>
                      <a:noFill/>
                    </a:lnR>
                    <a:lnT>
                      <a:noFill/>
                    </a:lnT>
                    <a:lnB w="7620" cap="flat" cmpd="sng" algn="ctr">
                      <a:solidFill>
                        <a:srgbClr val="D6DCEA"/>
                      </a:solidFill>
                      <a:prstDash val="dash"/>
                      <a:round/>
                      <a:headEnd type="none" w="med" len="med"/>
                      <a:tailEnd type="none" w="med" len="med"/>
                    </a:lnB>
                    <a:noFill/>
                  </a:tcPr>
                </a:tc>
                <a:extLst>
                  <a:ext uri="{0D108BD9-81ED-4DB2-BD59-A6C34878D82A}">
                    <a16:rowId xmlns:a16="http://schemas.microsoft.com/office/drawing/2014/main" val="2152117119"/>
                  </a:ext>
                </a:extLst>
              </a:tr>
              <a:tr h="609600">
                <a:tc>
                  <a:txBody>
                    <a:bodyPr/>
                    <a:lstStyle/>
                    <a:p>
                      <a:pPr>
                        <a:buNone/>
                      </a:pPr>
                      <a:r>
                        <a:rPr lang="en-IN">
                          <a:solidFill>
                            <a:srgbClr val="4D5B7C"/>
                          </a:solidFill>
                          <a:effectLst/>
                        </a:rPr>
                        <a:t>Math</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a:solidFill>
                            <a:srgbClr val="4D5B7C"/>
                          </a:solidFill>
                          <a:effectLst/>
                        </a:rPr>
                        <a:t>Dr. Smith</a:t>
                      </a:r>
                    </a:p>
                  </a:txBody>
                  <a:tcPr anchor="ctr">
                    <a:lnL>
                      <a:noFill/>
                    </a:lnL>
                    <a:lnR>
                      <a:noFill/>
                    </a:lnR>
                    <a:lnT w="7620" cap="flat" cmpd="sng" algn="ctr">
                      <a:solidFill>
                        <a:srgbClr val="D6DCEA"/>
                      </a:solidFill>
                      <a:prstDash val="dash"/>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1101745926"/>
                  </a:ext>
                </a:extLst>
              </a:tr>
              <a:tr h="609600">
                <a:tc>
                  <a:txBody>
                    <a:bodyPr/>
                    <a:lstStyle/>
                    <a:p>
                      <a:pPr>
                        <a:buNone/>
                      </a:pPr>
                      <a:r>
                        <a:rPr lang="en-IN">
                          <a:solidFill>
                            <a:srgbClr val="4D5B7C"/>
                          </a:solidFill>
                          <a:effectLst/>
                        </a:rPr>
                        <a:t>History</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tc>
                  <a:txBody>
                    <a:bodyPr/>
                    <a:lstStyle/>
                    <a:p>
                      <a:pPr>
                        <a:buNone/>
                      </a:pPr>
                      <a:r>
                        <a:rPr lang="en-IN" dirty="0">
                          <a:solidFill>
                            <a:srgbClr val="4D5B7C"/>
                          </a:solidFill>
                          <a:effectLst/>
                        </a:rPr>
                        <a:t>Dr. Jones</a:t>
                      </a:r>
                    </a:p>
                  </a:txBody>
                  <a:tcPr anchor="ctr">
                    <a:lnL>
                      <a:noFill/>
                    </a:lnL>
                    <a:lnR>
                      <a:noFill/>
                    </a:lnR>
                    <a:lnT w="7620" cap="flat" cmpd="sng" algn="ctr">
                      <a:solidFill>
                        <a:srgbClr val="D6DCEA"/>
                      </a:solidFill>
                      <a:prstDash val="solid"/>
                      <a:round/>
                      <a:headEnd type="none" w="med" len="med"/>
                      <a:tailEnd type="none" w="med" len="med"/>
                    </a:lnT>
                    <a:lnB w="7620" cap="flat" cmpd="sng" algn="ctr">
                      <a:solidFill>
                        <a:srgbClr val="D6DCEA"/>
                      </a:solidFill>
                      <a:prstDash val="solid"/>
                      <a:round/>
                      <a:headEnd type="none" w="med" len="med"/>
                      <a:tailEnd type="none" w="med" len="med"/>
                    </a:lnB>
                    <a:noFill/>
                  </a:tcPr>
                </a:tc>
                <a:extLst>
                  <a:ext uri="{0D108BD9-81ED-4DB2-BD59-A6C34878D82A}">
                    <a16:rowId xmlns:a16="http://schemas.microsoft.com/office/drawing/2014/main" val="714738894"/>
                  </a:ext>
                </a:extLst>
              </a:tr>
            </a:tbl>
          </a:graphicData>
        </a:graphic>
      </p:graphicFrame>
    </p:spTree>
    <p:extLst>
      <p:ext uri="{BB962C8B-B14F-4D97-AF65-F5344CB8AC3E}">
        <p14:creationId xmlns:p14="http://schemas.microsoft.com/office/powerpoint/2010/main" val="210058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1998</Words>
  <Application>Microsoft Office PowerPoint</Application>
  <PresentationFormat>On-screen Show (4:3)</PresentationFormat>
  <Paragraphs>217</Paragraphs>
  <Slides>39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5" baseType="lpstr">
      <vt:lpstr>Arial</vt:lpstr>
      <vt:lpstr>Calibri</vt:lpstr>
      <vt:lpstr>Monotype Sorts</vt:lpstr>
      <vt:lpstr>Wingdings</vt:lpstr>
      <vt:lpstr>Office Theme</vt:lpstr>
      <vt:lpstr>Worksheet</vt:lpstr>
      <vt:lpstr>PowerPoint Presentation</vt:lpstr>
      <vt:lpstr>What is normalization</vt:lpstr>
      <vt:lpstr>Objectives of DB Normalization</vt:lpstr>
      <vt:lpstr>Problems without normalization</vt:lpstr>
      <vt:lpstr>Problems without normalization</vt:lpstr>
      <vt:lpstr>Summary of Normal forms</vt:lpstr>
      <vt:lpstr>Dependencies: Definitions </vt:lpstr>
      <vt:lpstr>Dependencies: Definitions</vt:lpstr>
      <vt:lpstr>Dependencies: Definitions</vt:lpstr>
      <vt:lpstr>Normal Forms: Review</vt:lpstr>
      <vt:lpstr>Example 1: Determine NF</vt:lpstr>
      <vt:lpstr>Example 1: Determine NF</vt:lpstr>
      <vt:lpstr>Example 1: Determine NF</vt:lpstr>
      <vt:lpstr>Example 1: Determine NF</vt:lpstr>
      <vt:lpstr>Example 1: Determine NF</vt:lpstr>
      <vt:lpstr>Example 2: Determine NF</vt:lpstr>
      <vt:lpstr>Example 2: Determine NF</vt:lpstr>
      <vt:lpstr>Example 2: Determine NF</vt:lpstr>
      <vt:lpstr>Example 2: Determine NF</vt:lpstr>
      <vt:lpstr>Example 3: Determine NF</vt:lpstr>
      <vt:lpstr>Example 3: Determine NF</vt:lpstr>
      <vt:lpstr>Bringing a Relation to 1NF</vt:lpstr>
      <vt:lpstr>Bringing a Relation to 1NF</vt:lpstr>
      <vt:lpstr>Bringing a Relation to 1NF</vt:lpstr>
      <vt:lpstr>Bringing a Relation to 1NF</vt:lpstr>
      <vt:lpstr>Bringing a Relation to 2NF</vt:lpstr>
      <vt:lpstr>Bringing a Relation to 2NF</vt:lpstr>
      <vt:lpstr>Bringing a Relation to 2NF</vt:lpstr>
      <vt:lpstr>Bringing a Relation to 2NF</vt:lpstr>
      <vt:lpstr>Bringing a Relation to 3NF</vt:lpstr>
      <vt:lpstr>Bringing a Relation to 3NF</vt:lpstr>
      <vt:lpstr>Bringing a Relation to 3NF</vt:lpstr>
      <vt:lpstr>Boyce-Codd Normal Form (BCNF)</vt:lpstr>
      <vt:lpstr>Boyce-Codd Normal Form (BCNF)</vt:lpstr>
      <vt:lpstr>Boyce-Codd Normal Form (BCNF)</vt:lpstr>
      <vt:lpstr>Boyce-Codd Normal Form (BCNF)</vt:lpstr>
      <vt:lpstr>Boyce-Codd Normal Form (BCNF)</vt:lpstr>
      <vt:lpstr>Boyce-Codd Normal Form (BCNF)</vt:lpstr>
      <vt:lpstr>Boyce-Codd Normal Form (BCNF)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kmit</dc:creator>
  <cp:lastModifiedBy>RAJENDRA KUMAR TAPADIA</cp:lastModifiedBy>
  <cp:revision>60</cp:revision>
  <dcterms:created xsi:type="dcterms:W3CDTF">2012-06-17T09:54:29Z</dcterms:created>
  <dcterms:modified xsi:type="dcterms:W3CDTF">2026-04-06T02:42:03Z</dcterms:modified>
</cp:coreProperties>
</file>